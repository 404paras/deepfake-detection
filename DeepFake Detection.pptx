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7"/>
  </p:notesMasterIdLst>
  <p:sldIdLst>
    <p:sldId id="268" r:id="rId2"/>
    <p:sldId id="274" r:id="rId3"/>
    <p:sldId id="257" r:id="rId4"/>
    <p:sldId id="275" r:id="rId5"/>
    <p:sldId id="263" r:id="rId6"/>
    <p:sldId id="269" r:id="rId7"/>
    <p:sldId id="276" r:id="rId8"/>
    <p:sldId id="265" r:id="rId9"/>
    <p:sldId id="270" r:id="rId10"/>
    <p:sldId id="271" r:id="rId11"/>
    <p:sldId id="273" r:id="rId12"/>
    <p:sldId id="277" r:id="rId13"/>
    <p:sldId id="278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79" autoAdjust="0"/>
    <p:restoredTop sz="94667"/>
  </p:normalViewPr>
  <p:slideViewPr>
    <p:cSldViewPr snapToGrid="0">
      <p:cViewPr varScale="1">
        <p:scale>
          <a:sx n="137" d="100"/>
          <a:sy n="137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5DF28-605E-4AB8-9AD9-3D9A8552FD12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E03BC-721D-4149-8999-CC474D743A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68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4397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A3B21-B9D4-46D7-8A56-4624EEE054DB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70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4402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68047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34626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3724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11028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25253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9054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53112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999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9B3D871A-2CC1-46E9-B834-1859BA8C9402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77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1BF05AFF-AC70-475F-A29C-CCF76F9291BB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03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48E0F3D-D8A2-4068-9F39-C5B102384D65}" type="datetime1">
              <a:rPr lang="en-IN" smtClean="0"/>
              <a:t>16/11/25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2B0EF2C-1DD5-48D0-8FB2-5A22109F725F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07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56B97-0C0C-9FDC-5B32-C5804F60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743" y="5294709"/>
            <a:ext cx="9601200" cy="896199"/>
          </a:xfrm>
        </p:spPr>
        <p:txBody>
          <a:bodyPr/>
          <a:lstStyle/>
          <a:p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 : Dr. Mayank Dave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 Garg(324103210)</a:t>
            </a:r>
            <a:endParaRPr lang="en-IN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E97D-F5C9-3813-A8D0-EBB7C3FAD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31216" y="2643318"/>
            <a:ext cx="13323215" cy="1710677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Deep Learning for Robust Deepfake Video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with Enhanced Generalization and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</a:p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Semester Presentation of Dissertation Part-I</a:t>
            </a:r>
          </a:p>
          <a:p>
            <a:pPr algn="ctr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MCO2D01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8CCAF-3521-4556-4CC9-20E449E30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Downloads – National Institute of Technology, Kurukshetra">
            <a:extLst>
              <a:ext uri="{FF2B5EF4-FFF2-40B4-BE49-F238E27FC236}">
                <a16:creationId xmlns:a16="http://schemas.microsoft.com/office/drawing/2014/main" id="{94011FBA-91E5-BE61-3A98-D179C930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063" y="313256"/>
            <a:ext cx="21050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82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158D-4A20-5577-93E4-F0EFD8F70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7"/>
            <a:ext cx="9601200" cy="1364658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0F9D8-9912-60F9-21D2-B52E8AD35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2B0EF2C-1DD5-48D0-8FB2-5A22109F725F}" type="slidenum">
              <a:rPr lang="en-IN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Google Shape;94;p2">
            <a:extLst>
              <a:ext uri="{FF2B5EF4-FFF2-40B4-BE49-F238E27FC236}">
                <a16:creationId xmlns:a16="http://schemas.microsoft.com/office/drawing/2014/main" id="{FFE9CA97-84E4-3C90-F8AA-18BC94617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665014"/>
              </p:ext>
            </p:extLst>
          </p:nvPr>
        </p:nvGraphicFramePr>
        <p:xfrm>
          <a:off x="1892596" y="1638921"/>
          <a:ext cx="7655442" cy="49940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29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S.No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Topic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Slide No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Introduction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2.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Literature Review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4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3.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Identified Gaps in Previous Research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5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4.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Data Collection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6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5.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Dataset Preprocessing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7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6.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Proposed Improvements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8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7.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Flow of the Architecture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9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8.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Results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10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9.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Conclusion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11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10.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Current Status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12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11.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Future Scope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13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569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12.</a:t>
                      </a:r>
                      <a:endParaRPr sz="1200" u="none" strike="noStrike" cap="none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References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14</a:t>
                      </a:r>
                      <a:endParaRPr sz="1200" u="none" strike="noStrike" cap="none" dirty="0"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40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3C73-A7FC-65BD-BB5E-FE4B3273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>
                <a:cs typeface="Times New Roman" panose="02020603050405020304" pitchFamily="18" charset="0"/>
              </a:rPr>
              <a:t>Introduction</a:t>
            </a:r>
            <a:endParaRPr lang="en-IN" sz="3800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DE1E-D8BA-A8D3-6D49-5543D1605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20071" cy="3955070"/>
          </a:xfrm>
        </p:spPr>
        <p:txBody>
          <a:bodyPr>
            <a:normAutofit fontScale="85000" lnSpcReduction="10000"/>
          </a:bodyPr>
          <a:lstStyle/>
          <a:p>
            <a:pPr marL="457200" lvl="0" indent="-406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rapid growth of generative AI has made it simple to create highly realistic deepfakes, raising serious concerns about digital media trust.</a:t>
            </a:r>
          </a:p>
          <a:p>
            <a:pPr marL="457200" lvl="0" indent="-406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Malicious applications include disinformation campaigns, financial fraud, and privacy violations, making robust detection methods essential.</a:t>
            </a:r>
          </a:p>
          <a:p>
            <a:pPr marL="457200" lvl="0" indent="-406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paper introduces a hybrid deep learning architecture designed to identify manipulated videos by detecting inconsistencies between frames.</a:t>
            </a:r>
          </a:p>
          <a:p>
            <a:pPr marL="457200" lvl="0" indent="-406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architecture combines Convolutional Neural Networks (CNNs) for spatial analysis, Recurrent Neural Networks (RNNs) for temporal analysis, and an attention mechanism to focus on key regions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92838-DD31-8F63-56F4-D2D211F5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3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4578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2C07-A79C-114D-A64F-ECD770628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CDAE-E3C1-AFF2-7907-46D3029FC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298450">
              <a:lnSpc>
                <a:spcPct val="115000"/>
              </a:lnSpc>
              <a:spcAft>
                <a:spcPts val="0"/>
              </a:spcAft>
              <a:buSzPts val="1100"/>
              <a:buChar char="●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methods used CNNs to find spatial artifacts in single frames but often missed inconsistencies between frames.</a:t>
            </a:r>
          </a:p>
          <a:p>
            <a: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 research incorporated RNNs to analyze temporal features like unnatural motion, improving detection of video manipulations.</a:t>
            </a:r>
          </a:p>
          <a:p>
            <a: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that combine spatial and temporal analysis show greater promise, but many still perform poorly on new, "in-the-wild" deepfakes.</a:t>
            </a:r>
          </a:p>
          <a:p>
            <a: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challenges remain, including poor generalization, dataset bias causing fairness issues, and the constant evolution of forgery techniques.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E57E3-B452-FECC-879F-0CF5D039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smtClean="0"/>
              <a:t>4</a:t>
            </a:fld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96287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D550-D303-F475-E716-2C0FECE17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961" y="815564"/>
            <a:ext cx="10831651" cy="1078596"/>
          </a:xfrm>
        </p:spPr>
        <p:txBody>
          <a:bodyPr/>
          <a:lstStyle/>
          <a:p>
            <a:r>
              <a:rPr lang="en-IN" sz="3800" dirty="0">
                <a:cs typeface="Times New Roman" panose="02020603050405020304" pitchFamily="18" charset="0"/>
              </a:rPr>
              <a:t>Identified Gaps in Previous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E262B-572C-7278-2894-946D18F52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987" y="2454813"/>
            <a:ext cx="10515600" cy="3839661"/>
          </a:xfrm>
        </p:spPr>
        <p:txBody>
          <a:bodyPr>
            <a:normAutofit/>
          </a:bodyPr>
          <a:lstStyle/>
          <a:p>
            <a:pPr marL="457200" lvl="0" indent="-399415">
              <a:lnSpc>
                <a:spcPct val="95000"/>
              </a:lnSpc>
              <a:spcAft>
                <a:spcPts val="0"/>
              </a:spcAft>
              <a:buSzPts val="269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Many existing deepfake detection methods perform poorly when faced with new forgery techniques or "in-the-wild" examples they were not trained on.</a:t>
            </a:r>
          </a:p>
          <a:p>
            <a:pPr marL="457200" lvl="0" indent="-399415">
              <a:lnSpc>
                <a:spcPct val="95000"/>
              </a:lnSpc>
              <a:spcAft>
                <a:spcPts val="0"/>
              </a:spcAft>
              <a:buSzPts val="269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While detectors show high accuracy on academic benchmarks, their performance can drop by 50% or more on contemporary, real-world deepfakes.</a:t>
            </a:r>
          </a:p>
          <a:p>
            <a:pPr marL="457200" lvl="0" indent="-399415">
              <a:lnSpc>
                <a:spcPct val="95000"/>
              </a:lnSpc>
              <a:spcAft>
                <a:spcPts val="0"/>
              </a:spcAft>
              <a:buSzPts val="269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Training data often contains biases, causing detection algorithms to perform unequally across different demographic groups, such as race or gender.</a:t>
            </a:r>
          </a:p>
          <a:p>
            <a:pPr marL="457200" lvl="0" indent="-399415">
              <a:lnSpc>
                <a:spcPct val="95000"/>
              </a:lnSpc>
              <a:spcAft>
                <a:spcPts val="0"/>
              </a:spcAft>
              <a:buSzPts val="269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creates a critical need for detection models that generalize well to unseen data and address fairness disparities.</a:t>
            </a:r>
          </a:p>
          <a:p>
            <a:pPr marL="457200" lvl="0" indent="0">
              <a:lnSpc>
                <a:spcPct val="95000"/>
              </a:lnSpc>
              <a:spcAft>
                <a:spcPts val="0"/>
              </a:spcAft>
              <a:buSzPts val="1018"/>
              <a:buNone/>
            </a:pPr>
            <a:endParaRPr lang="en-US" sz="2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>
              <a:lnSpc>
                <a:spcPct val="70000"/>
              </a:lnSpc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217CC-8DB2-9A9B-194B-9E8AC810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5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7177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3BB4-E257-33E0-4BF4-46786D68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dirty="0"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B090CF-5616-FCF7-F6DF-44B87F261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365" y="2246467"/>
            <a:ext cx="1141963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Celeb-DF: Focuses on realistic deepfakes.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 Challenge (DFDC): Large-scale, diverse deepfake dataset.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FaceForensics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 (FF): Contains various manipulation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ombining these datasets ensures the model learns from a wide range of deepfake generation methods and real video variations.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Videos</a:t>
            </a:r>
            <a:r>
              <a:rPr lang="en-IN" sz="2000" b="0" i="0" u="none" strike="noStrike" baseline="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4510 (Real: 2318 Fake: 2192)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000" b="0" i="0" u="none" strike="noStrike" baseline="0" dirty="0">
                <a:solidFill>
                  <a:srgbClr val="1F1F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esting Videos : 1128  (Real: 591 Fake: 537)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D80B9-D927-52E1-7D81-8A7A15AE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6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138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5925-FF18-6A5F-0154-66E4B78E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Dataset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F52B6-FD85-7D69-177B-E8BCDD536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393700">
              <a:spcBef>
                <a:spcPts val="10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Frame Extraction: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Videos are split into individual frames, and a face detection algorithm crops the facial regions.</a:t>
            </a:r>
          </a:p>
          <a:p>
            <a:pPr marL="457200" lvl="0" indent="-393700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Normalization: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All cropped face frames are resized to a uniform 112x112 pixels and normalized using ImageNet's mean and standard deviation.</a:t>
            </a:r>
          </a:p>
          <a:p>
            <a:pPr marL="457200" lvl="0" indent="-393700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Sampling: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 fixed frame sampling strategy of 10 frames per second is used for consistency across all videos.</a:t>
            </a:r>
          </a:p>
          <a:p>
            <a:pPr marL="457200" lvl="0" indent="-393700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Augmentation: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To improve robustness, various augmentations are applied, including random horizontal flips, rotations, color adjustments, and the addition of noise or blurring.</a:t>
            </a:r>
          </a:p>
          <a:p>
            <a:pPr marL="457200" lvl="0" indent="0"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D84BC-9C7B-5D51-53AE-5511CCB6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smtClean="0"/>
              <a:t>7</a:t>
            </a:fld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866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60DF-E485-90F9-0C0A-0B1490BD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218" y="882774"/>
            <a:ext cx="9779183" cy="868940"/>
          </a:xfrm>
        </p:spPr>
        <p:txBody>
          <a:bodyPr/>
          <a:lstStyle/>
          <a:p>
            <a:r>
              <a:rPr lang="en-IN" sz="3800" dirty="0">
                <a:cs typeface="Times New Roman" panose="02020603050405020304" pitchFamily="18" charset="0"/>
              </a:rPr>
              <a:t>Proposed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CE85A-533D-D70E-3EDF-CF218F47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87" y="2053372"/>
            <a:ext cx="10297023" cy="5106286"/>
          </a:xfrm>
        </p:spPr>
        <p:txBody>
          <a:bodyPr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proposed framework is a hybrid architecture designed to capture both spatial and temporal features effectively.</a:t>
            </a:r>
          </a:p>
          <a:p>
            <a:pPr marL="457200" lvl="0" indent="-393700">
              <a:spcBef>
                <a:spcPts val="100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Spatial Feature Extraction: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 pre-trained ResNet50 model is used to extract detailed spatial features from each individual video frame.</a:t>
            </a:r>
          </a:p>
          <a:p>
            <a:pPr marL="457200" lvl="0" indent="-393700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Temporal Anomaly Detection: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 Bidirectional Gated Recurrent Unit (Bi-GRU) processes the sequence of spatial features to identify temporal inconsistencies and unnatural flow between frames.</a:t>
            </a:r>
          </a:p>
          <a:p>
            <a:pPr marL="457200" lvl="0" indent="-393700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Attention Mechanism: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 Multi-Head Attention layer is applied after the Bi-GRU to allow the model to focus on the most significant parts of the video sequence that indicate manipulation.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DFDF-0FA1-0C2E-EB15-73BC8E45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8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2417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C8F6-DA8B-D619-E374-161C8341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832" y="827886"/>
            <a:ext cx="9779183" cy="916074"/>
          </a:xfrm>
        </p:spPr>
        <p:txBody>
          <a:bodyPr>
            <a:normAutofit/>
          </a:bodyPr>
          <a:lstStyle/>
          <a:p>
            <a:r>
              <a:rPr lang="en-US" sz="3800" dirty="0">
                <a:cs typeface="Times New Roman" panose="02020603050405020304" pitchFamily="18" charset="0"/>
              </a:rPr>
              <a:t>Flow of the Architecture</a:t>
            </a:r>
            <a:endParaRPr lang="en-IN" sz="38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554B4-097F-564B-E5FC-D0C647F0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9</a:t>
            </a:fld>
            <a:endParaRPr lang="en-IN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FEAC5-71C9-5A5E-B169-6268A00B8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158" y="1743960"/>
            <a:ext cx="2857748" cy="48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5740-62F9-E525-1D65-2DD0E628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650" y="601642"/>
            <a:ext cx="9779183" cy="1321426"/>
          </a:xfrm>
        </p:spPr>
        <p:txBody>
          <a:bodyPr>
            <a:normAutofit/>
          </a:bodyPr>
          <a:lstStyle/>
          <a:p>
            <a:r>
              <a:rPr lang="en-US" sz="3800" dirty="0">
                <a:cs typeface="Times New Roman" panose="02020603050405020304" pitchFamily="18" charset="0"/>
              </a:rPr>
              <a:t>Results</a:t>
            </a:r>
            <a:endParaRPr lang="en-IN" sz="3800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B3D3-6916-89E1-2647-DB4BB9C65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13" y="2067001"/>
            <a:ext cx="10000320" cy="4189357"/>
          </a:xfrm>
        </p:spPr>
        <p:txBody>
          <a:bodyPr>
            <a:noAutofit/>
          </a:bodyPr>
          <a:lstStyle/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proposed hybrid model achieved strong performance on the aggregated test dataset:</a:t>
            </a:r>
          </a:p>
          <a:p>
            <a:pPr marL="457200" lvl="0" indent="-361950">
              <a:lnSpc>
                <a:spcPct val="115000"/>
              </a:lnSpc>
              <a:spcAft>
                <a:spcPts val="0"/>
              </a:spcAft>
              <a:buSzPts val="2100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Accuracy: 0.9266</a:t>
            </a:r>
          </a:p>
          <a:p>
            <a: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AUC: 0.925</a:t>
            </a:r>
          </a:p>
          <a:p>
            <a: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F1-Score: 0.9244</a:t>
            </a:r>
          </a:p>
          <a:p>
            <a:pPr marL="457200" lvl="0" indent="-3619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Comparative Analysis: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The model demonstrated superior generalization capabilities when compared to several existing state-of-the-art models on diverse and challenging datasets.</a:t>
            </a:r>
          </a:p>
          <a:p>
            <a:pPr marL="457200" lvl="0" indent="-361950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Ablation Studies: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Removing key components like the Bi-GRU or Multi-Head Attention layer resulted in a significant drop in performance, confirming the importance of each part of the hybrid architecture. For example, removing the attention mechanism lowered the AUC from </a:t>
            </a: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0.925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to </a:t>
            </a: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0.8455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</a:p>
          <a:p>
            <a:pPr marL="0" lvl="0" indent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CC661-28CD-6C8A-8E28-F4343955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10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4345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2C7C-C600-7D65-633C-0841197B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dirty="0"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8A501-158B-EAC6-D312-B90F720A5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447344"/>
            <a:ext cx="9720073" cy="4023360"/>
          </a:xfrm>
        </p:spPr>
        <p:txBody>
          <a:bodyPr>
            <a:normAutofit/>
          </a:bodyPr>
          <a:lstStyle/>
          <a:p>
            <a:pPr marL="457200" lvl="0" indent="-387350">
              <a:spcBef>
                <a:spcPts val="100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This research successfully developed a hybrid deep learning solution that combines CNNs for spatial analysis, Bi-GRUs for temporal analysis, and Multi-Head Attention for contextual focus.</a:t>
            </a:r>
          </a:p>
          <a:p>
            <a:pPr marL="457200" lvl="0" indent="-387350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By training on a large, aggregated dataset (FF++, Celeb-DF, DFDC) and using data augmentation, the model's ability to generalize to unseen data and avoid biases was significantly improved.</a:t>
            </a:r>
          </a:p>
          <a:p>
            <a:pPr marL="457200" lvl="0" indent="-387350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Experimental results show the proposed architecture outperforms many existing methods, especially on diverse, "in-the-wild" deepfakes.</a:t>
            </a:r>
          </a:p>
          <a:p>
            <a:pPr marL="457200" lvl="0" indent="-387350"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●"/>
            </a:pPr>
            <a:r>
              <a:rPr 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work represents a significant step toward creating reliable, robust, and fair deepfake detection systems for real-world applications.</a:t>
            </a:r>
          </a:p>
          <a:p>
            <a:pPr marL="457200" lvl="0" indent="0">
              <a:spcBef>
                <a:spcPts val="100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40404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83080-E2FE-2CEE-9403-FEA3D2E60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smtClean="0"/>
              <a:t>11</a:t>
            </a:fld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78921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A827-E94B-926B-7383-D54CAC30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Current Status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AB1F-6491-0E4B-213F-A64D6EB89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has been accepted and presented at 2025 IEEE 4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Conference for Advancement in Technology (ICONAT).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DFD5B-82DA-080B-2ED8-5CA3F7F4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smtClean="0"/>
              <a:t>12</a:t>
            </a:fld>
            <a:endParaRPr lang="en-IN" sz="2400" dirty="0"/>
          </a:p>
        </p:txBody>
      </p:sp>
      <p:pic>
        <p:nvPicPr>
          <p:cNvPr id="6" name="Picture 5" descr="A certificate with text and a black border&#10;&#10;AI-generated content may be incorrect.">
            <a:extLst>
              <a:ext uri="{FF2B5EF4-FFF2-40B4-BE49-F238E27FC236}">
                <a16:creationId xmlns:a16="http://schemas.microsoft.com/office/drawing/2014/main" id="{810A74DE-845A-E941-FE28-B24AA0845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884" y="3135087"/>
            <a:ext cx="7772400" cy="337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9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BA9D-843E-9BFA-0676-7B0318E7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20AD2-D787-C489-92E3-F2327417C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Advanced Architectures: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Explore the use of other models like Vision Transformers (</a:t>
            </a:r>
            <a:r>
              <a:rPr lang="en-US" sz="2000" dirty="0" err="1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ViTs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) for feature extraction, as they are skilled at finding global relationships in images.</a:t>
            </a:r>
          </a:p>
          <a:p>
            <a:pPr>
              <a:spcBef>
                <a:spcPts val="1000"/>
              </a:spcBef>
              <a:spcAft>
                <a:spcPts val="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Multi-Modal Detection: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Incorporate audio analysis into the model, as many deepfakes also feature manipulated audio streams, to create a more comprehensive detection system.</a:t>
            </a:r>
          </a:p>
          <a:p>
            <a:pPr>
              <a:spcBef>
                <a:spcPts val="1000"/>
              </a:spcBef>
              <a:spcAft>
                <a:spcPts val="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Robustness to Attacks: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Research methods to enhance robustness against adversarial attacks, such as using adversarial training techniques.</a:t>
            </a:r>
          </a:p>
          <a:p>
            <a:pPr>
              <a:spcBef>
                <a:spcPts val="1000"/>
              </a:spcBef>
              <a:spcAft>
                <a:spcPts val="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Real-Time Deployment:</a:t>
            </a:r>
            <a:r>
              <a:rPr lang="en-US" sz="20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Work on model optimization through techniques like pruning and quantization to reduce computational costs and enable real-time application and scalability.</a:t>
            </a:r>
          </a:p>
          <a:p>
            <a:pPr lvl="0">
              <a:spcBef>
                <a:spcPts val="1000"/>
              </a:spcBef>
              <a:spcAft>
                <a:spcPts val="0"/>
              </a:spcAft>
              <a:buSzPct val="125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25000"/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B6430-9117-4445-18D8-72B94B76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smtClean="0"/>
              <a:t>13</a:t>
            </a:fld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5170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7F95-AA21-B529-ABC5-4F34338A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834469"/>
            <a:ext cx="9779183" cy="897220"/>
          </a:xfrm>
        </p:spPr>
        <p:txBody>
          <a:bodyPr/>
          <a:lstStyle/>
          <a:p>
            <a:r>
              <a:rPr lang="en-IN" sz="3800" dirty="0"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1EED-A9C0-E0B0-5075-39BF02E0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1731689"/>
            <a:ext cx="9779182" cy="551752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B. P. and M. S. Nair, "Deepfake Detection using Multi-path CNN and Convolutional Attention Mechanism,"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 IEEE 2nd Mysore Sub Section International Conference (MysuruCon)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Mysuru, India, 2022, pp. 1-6, doi: 10.1109/MysuruCon55714.2022.9972657.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Das, S. Das and A. Dantcheva, "Demystifying Attention Mechanisms for Deepfake Detection,"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2021 16th IEEE International Conference on Automatic Face and Gesture Recognition (FG 2021)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Jodhpur, India, 2021, pp. 1-7, doi: 10.1109/FG52635.2021.9667026.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Shuai &amp; Zhu, Donghui &amp; Chen, Jian &amp; Bi, Jiangbo &amp; Wang, Wenyi. (2024). Deepfake face discrimination based on self-attention mechanism. Pattern Recognition Letters. 183. 10.1016/j.patrec.2024.02.019.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Afchar, V. Nozick, J. Yamagishi and I. Echizen, "MesoNet: a Compact Facial Video Forgery Detection Network,"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2018 IEEE International Workshop on Information Forensics and Security (WIFS)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Hong Kong, China, 2018, pp. 1-7, doi: 10.1109/WIFS.2018.8630761.</a:t>
            </a:r>
          </a:p>
          <a:p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lphaUcPeriod"/>
            </a:pPr>
            <a:endParaRPr lang="en-IN" sz="200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F244F-1F88-E841-5982-1E3B3E7E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0EF2C-1DD5-48D0-8FB2-5A22109F725F}" type="slidenum">
              <a:rPr lang="en-IN" sz="2400" b="1" smtClean="0"/>
              <a:t>14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0344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B64E52-AC62-BBE4-7714-2D11E054077F}"/>
              </a:ext>
            </a:extLst>
          </p:cNvPr>
          <p:cNvSpPr txBox="1">
            <a:spLocks/>
          </p:cNvSpPr>
          <p:nvPr/>
        </p:nvSpPr>
        <p:spPr>
          <a:xfrm>
            <a:off x="934139" y="7037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A061B-4E22-963F-3554-24D72CA66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2B0EF2C-1DD5-48D0-8FB2-5A22109F725F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8318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245</TotalTime>
  <Words>1201</Words>
  <Application>Microsoft Macintosh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Tw Cen MT Condensed</vt:lpstr>
      <vt:lpstr>Wingdings 3</vt:lpstr>
      <vt:lpstr>Integral</vt:lpstr>
      <vt:lpstr> Supervisor Name : Dr. Mayank Dave  Presented By : Paras Garg(324103210)</vt:lpstr>
      <vt:lpstr>Contents</vt:lpstr>
      <vt:lpstr>Introduction</vt:lpstr>
      <vt:lpstr>Literature Review </vt:lpstr>
      <vt:lpstr>Identified Gaps in Previous Research</vt:lpstr>
      <vt:lpstr>Data Collection</vt:lpstr>
      <vt:lpstr>Dataset Preprocessing</vt:lpstr>
      <vt:lpstr>Proposed Improvements</vt:lpstr>
      <vt:lpstr>Flow of the Architecture</vt:lpstr>
      <vt:lpstr>Results</vt:lpstr>
      <vt:lpstr>Conclusion</vt:lpstr>
      <vt:lpstr>Current Status </vt:lpstr>
      <vt:lpstr>Future Scope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Garg</dc:creator>
  <cp:lastModifiedBy>Garg, Paras</cp:lastModifiedBy>
  <cp:revision>17</cp:revision>
  <dcterms:created xsi:type="dcterms:W3CDTF">2025-03-18T16:26:47Z</dcterms:created>
  <dcterms:modified xsi:type="dcterms:W3CDTF">2025-11-16T13:09:09Z</dcterms:modified>
</cp:coreProperties>
</file>