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2"/>
  </p:sldMasterIdLst>
  <p:notesMasterIdLst>
    <p:notesMasterId r:id="rId8"/>
  </p:notesMasterIdLst>
  <p:sldIdLst>
    <p:sldId id="276" r:id="rId3"/>
    <p:sldId id="273" r:id="rId4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74" r:id="rId6"/>
    <p:sldId id="27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1D5"/>
    <a:srgbClr val="E8AF90"/>
    <a:srgbClr val="E6A886"/>
    <a:srgbClr val="9933FF"/>
    <a:srgbClr val="FFFFFF"/>
    <a:srgbClr val="F369C2"/>
    <a:srgbClr val="F79FD8"/>
    <a:srgbClr val="FA1EBB"/>
    <a:srgbClr val="F686BE"/>
    <a:srgbClr val="F08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4" d="100"/>
          <a:sy n="104" d="100"/>
        </p:scale>
        <p:origin x="1746" y="108"/>
      </p:cViewPr>
      <p:guideLst>
        <p:guide orient="horz" pos="2159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8E07A-AC5A-42A0-B8BF-C26A762143FB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F4389-A799-47C1-910E-26CADEA7C86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D9596-BC05-4E79-B255-68A09CBFEF8A}" type="datetime3">
              <a:rPr lang="en-US" smtClean="0"/>
              <a:t>13 May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D062-BA64-43D8-8A03-BAFBC365175F}" type="datetime3">
              <a:rPr lang="en-US" smtClean="0"/>
              <a:t>13 May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9D21-873E-45D6-AB21-9C3A38F59FA0}" type="datetime3">
              <a:rPr lang="en-US" smtClean="0"/>
              <a:t>13 May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2525-D047-4CD3-8357-05FB9DA01CEA}" type="datetime3">
              <a:rPr lang="en-US" smtClean="0"/>
              <a:t>13 May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7D30-2E48-4659-BF21-E5734ECE3686}" type="datetime3">
              <a:rPr lang="en-US" smtClean="0"/>
              <a:t>13 May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CAC13-612E-423E-AF56-D0BBA7092890}" type="datetime3">
              <a:rPr lang="en-US" smtClean="0"/>
              <a:t>13 May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2907-9C20-432B-8972-B2420015072C}" type="datetime3">
              <a:rPr lang="en-US" smtClean="0"/>
              <a:t>13 May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9B6E-C09F-4B2F-B826-A6685DEC8383}" type="datetime3">
              <a:rPr lang="en-US" smtClean="0"/>
              <a:t>13 May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3EC1-B239-4E7D-8D2B-717879EE610E}" type="datetime3">
              <a:rPr lang="en-US" smtClean="0"/>
              <a:t>13 May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7F10-45E8-4ED8-9572-F9FC61AB65EA}" type="datetime3">
              <a:rPr lang="en-US" smtClean="0"/>
              <a:t>13 May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E36-0539-4F62-88A1-42EFE56CC950}" type="datetime3">
              <a:rPr lang="en-US" smtClean="0"/>
              <a:t>13 May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386-8925-4DC7-BFE5-B430DB61766C}" type="datetime3">
              <a:rPr lang="en-US" smtClean="0"/>
              <a:t>13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E302-DF01-4F9F-AB19-FDADA183D4F7}" type="datetime3">
              <a:rPr lang="en-US" smtClean="0"/>
              <a:t>13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1403-745D-46D9-AB63-F32EF0537461}" type="datetime3">
              <a:rPr lang="en-US" smtClean="0"/>
              <a:t>13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9D3A-5E00-4B88-B672-1AE807AA8836}" type="datetime3">
              <a:rPr lang="en-US" smtClean="0"/>
              <a:t>13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48114-3B2E-43FF-A5A5-9F78B714475A}" type="datetime3">
              <a:rPr lang="en-US" smtClean="0"/>
              <a:t>13 May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3968-0373-4DF4-A59F-EEF6C7BDA779}" type="datetime3">
              <a:rPr lang="en-US" smtClean="0"/>
              <a:t>13 May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9D174-AF7D-4777-9721-051F5BF4164A}" type="datetime3">
              <a:rPr lang="en-US" smtClean="0"/>
              <a:t>13 May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C530A-0298-4DD0-BE4F-5EFFE283BAE3}" type="datetime3">
              <a:rPr lang="en-US" smtClean="0"/>
              <a:t>13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4032-A8A3-411C-BC26-E7B91F45A0E3}" type="datetime3">
              <a:rPr lang="en-US" smtClean="0"/>
              <a:t>13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809-7932-4158-8920-539AF76055B3}" type="datetime3">
              <a:rPr lang="en-US" smtClean="0"/>
              <a:t>13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788B0-F8C1-4F3E-9038-E4928A5C3E8E}" type="datetime3">
              <a:rPr lang="en-US" smtClean="0"/>
              <a:t>13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9F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E0ADA-A284-4FC1-AA8E-7242893F7BB8}" type="datetime3">
              <a:rPr lang="en-US" smtClean="0"/>
              <a:t>13 May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19C171C2-A5F4-4B02-89CA-7913A5038840}" type="datetime3">
              <a:rPr lang="en-US" smtClean="0"/>
              <a:t>13 May 2026</a:t>
            </a:fld>
            <a:endParaRPr lang="en-US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433" y="128907"/>
            <a:ext cx="9144000" cy="2858133"/>
          </a:xfrm>
        </p:spPr>
        <p:txBody>
          <a:bodyPr>
            <a:normAutofit fontScale="90000"/>
          </a:bodyPr>
          <a:lstStyle/>
          <a:p>
            <a: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3100" b="1" spc="-10" dirty="0" smtClean="0">
                <a:solidFill>
                  <a:srgbClr val="0E28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Fourth</a:t>
            </a:r>
            <a:r>
              <a:rPr lang="en-US" sz="2400" b="1" spc="-10" dirty="0" smtClean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100" b="1" spc="-10" dirty="0" smtClean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International </a:t>
            </a:r>
            <a:r>
              <a:rPr lang="en-US" sz="31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Conference </a:t>
            </a:r>
            <a:br>
              <a:rPr lang="en-US" sz="31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31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</a:t>
            </a:r>
            <a:r>
              <a:rPr lang="en-IN" sz="1800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800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 IEEE Delhi Section as Technical Sponsor</a:t>
            </a:r>
            <a:r>
              <a:rPr lang="en-IN" sz="1800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2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Secure Cyber Computing and </a:t>
            </a:r>
            <a:r>
              <a:rPr lang="en-US" sz="2200" b="1" spc="-10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Communications</a:t>
            </a:r>
            <a:br>
              <a:rPr lang="en-US" sz="2200" b="1" spc="-10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1" spc="-1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1800" b="1" spc="-10" dirty="0" smtClean="0">
                <a:solidFill>
                  <a:srgbClr val="1D41D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GB" sz="1800" b="1" spc="-10" dirty="0">
                <a:solidFill>
                  <a:srgbClr val="1D41D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Future-ready Cyber Security: Trust, Intelligence, and Resilience in a </a:t>
            </a:r>
            <a:r>
              <a:rPr lang="en-GB" sz="1800" b="1" spc="-10" dirty="0" err="1">
                <a:solidFill>
                  <a:srgbClr val="1D41D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Hyperconnected</a:t>
            </a:r>
            <a:r>
              <a:rPr lang="en-GB" sz="1800" b="1" spc="-10" dirty="0">
                <a:solidFill>
                  <a:srgbClr val="1D41D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World</a:t>
            </a:r>
            <a:r>
              <a:rPr lang="en-US" sz="1800" b="1" spc="-10" dirty="0" smtClean="0">
                <a:solidFill>
                  <a:srgbClr val="1D41D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1800" b="1" spc="-10" dirty="0">
                <a:solidFill>
                  <a:srgbClr val="1D41D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1800" b="1" spc="-10" dirty="0">
                <a:solidFill>
                  <a:srgbClr val="1D41D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[IEEE Conference Record No. #</a:t>
            </a:r>
            <a:r>
              <a:rPr lang="en-US" alt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69031]</a:t>
            </a:r>
            <a:r>
              <a:rPr lang="en-IN" sz="13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3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spc="-10" dirty="0" smtClean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MAY </a:t>
            </a:r>
            <a:r>
              <a:rPr lang="en-US" sz="2200" b="1" spc="-10" dirty="0" smtClean="0">
                <a:solidFill>
                  <a:srgbClr val="0E28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29-31</a:t>
            </a:r>
            <a:r>
              <a:rPr lang="en-US" sz="2200" b="1" spc="-10" dirty="0" smtClean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2026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dirty="0"/>
              <a:t/>
            </a:r>
            <a:br>
              <a:rPr lang="en-US" sz="2400" dirty="0"/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3095"/>
            <a:ext cx="9144000" cy="14306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67" y="233468"/>
            <a:ext cx="1058044" cy="10181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412" y="233468"/>
            <a:ext cx="1426588" cy="7242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7655" y="2463165"/>
            <a:ext cx="8729345" cy="1129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 b="1" sz="1800">
                <a:solidFill>
                  <a:srgbClr val="0E2841"/>
                </a:solidFill>
              </a:rPr>
              <a:t>Synchronicity Aware Multimodal Deepfake Detection</a:t>
            </a:r>
          </a:p>
          <a:p>
            <a:r>
              <a:rPr lang="en-US" dirty="0" b="1" sz="1600">
                <a:solidFill>
                  <a:srgbClr val="0E2841"/>
                </a:solidFill>
              </a:rPr>
              <a:t>via Cross-Modal Attention and Bi-Directional Temporal Modeling</a:t>
            </a:r>
          </a:p>
          <a:p>
            <a:r>
              <a:rPr lang="en-US" dirty="0" sz="800"/>
              <a:t/>
            </a:r>
          </a:p>
          <a:p>
            <a:r>
              <a:rPr lang="en-US" dirty="0" b="0" sz="1300">
                <a:solidFill>
                  <a:srgbClr val="595959"/>
                </a:solidFill>
              </a:rPr>
              <a:t>[Paper ID – 010,  Session – 02]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971" y="3912298"/>
            <a:ext cx="8038924" cy="1799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1" sz="1400">
                <a:solidFill>
                  <a:srgbClr val="0E2841"/>
                </a:solidFill>
              </a:rPr>
              <a:t>Presented By:</a:t>
            </a:r>
          </a:p>
          <a:p>
            <a:r>
              <a:rPr lang="en-US" dirty="0" b="0" sz="1300">
                <a:solidFill>
                  <a:srgbClr val="222222"/>
                </a:solidFill>
              </a:rPr>
              <a:t>Paras Garg¹   and   Mayank Dave²</a:t>
            </a:r>
          </a:p>
          <a:p>
            <a:r>
              <a:rPr lang="en-US" dirty="0" sz="600"/>
              <a:t/>
            </a:r>
          </a:p>
          <a:p>
            <a:r>
              <a:rPr lang="en-US" dirty="0" b="0" sz="1100">
                <a:solidFill>
                  <a:srgbClr val="595959"/>
                </a:solidFill>
              </a:rPr>
              <a:t>¹² Department of Computer Engineering</a:t>
            </a:r>
          </a:p>
          <a:p>
            <a:r>
              <a:rPr lang="en-US" dirty="0" b="0" sz="1100">
                <a:solidFill>
                  <a:srgbClr val="595959"/>
                </a:solidFill>
              </a:rPr>
              <a:t>National Institute of Technology, Kurukshetra, Haryana-136119, India</a:t>
            </a:r>
          </a:p>
          <a:p>
            <a:r>
              <a:rPr lang="en-US" dirty="0" b="0" sz="1000">
                <a:solidFill>
                  <a:srgbClr val="595959"/>
                </a:solidFill>
              </a:rPr>
              <a:t>Email:  parasgarg404@gmail.com   |   mdave@nitkkr.ac.in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</a:t>
            </a:r>
            <a:r>
              <a:rPr lang="en-IN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IN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</a:t>
            </a:r>
            <a:r>
              <a:rPr lang="en-US" alt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IN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sz="1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sz="1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dirty="0" b="1" sz="1200">
                <a:solidFill>
                  <a:srgbClr val="FFFFFF"/>
                </a:solidFill>
              </a:rPr>
              <a:t>May 29–31,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US" dirty="0"/>
              <a:t>TABLE OF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414" y="1050000"/>
            <a:ext cx="7911465" cy="5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500"/>
              </a:spcBef>
            </a:pPr>
            <a:r>
              <a:rPr lang="en-US" dirty="0" b="1" sz="1600">
                <a:solidFill>
                  <a:srgbClr val="C00000"/>
                </a:solidFill>
              </a:rPr>
              <a:t>01</a:t>
            </a:r>
            <a:r>
              <a:rPr lang="en-US" dirty="0" b="0" sz="1600">
                <a:solidFill>
                  <a:srgbClr val="222222"/>
                </a:solidFill>
              </a:rPr>
              <a:t>   Introduction &amp; Motivation</a:t>
            </a:r>
          </a:p>
          <a:p>
            <a:pPr>
              <a:spcBef>
                <a:spcPts val="500"/>
              </a:spcBef>
            </a:pPr>
            <a:r>
              <a:rPr lang="en-US" dirty="0" b="1" sz="1600">
                <a:solidFill>
                  <a:srgbClr val="C00000"/>
                </a:solidFill>
              </a:rPr>
              <a:t>02</a:t>
            </a:r>
            <a:r>
              <a:rPr lang="en-US" dirty="0" b="0" sz="1600">
                <a:solidFill>
                  <a:srgbClr val="222222"/>
                </a:solidFill>
              </a:rPr>
              <a:t>   Problem Statement</a:t>
            </a:r>
          </a:p>
          <a:p>
            <a:pPr>
              <a:spcBef>
                <a:spcPts val="500"/>
              </a:spcBef>
            </a:pPr>
            <a:r>
              <a:rPr lang="en-US" dirty="0" b="1" sz="1600">
                <a:solidFill>
                  <a:srgbClr val="C00000"/>
                </a:solidFill>
              </a:rPr>
              <a:t>03</a:t>
            </a:r>
            <a:r>
              <a:rPr lang="en-US" dirty="0" b="0" sz="1600">
                <a:solidFill>
                  <a:srgbClr val="222222"/>
                </a:solidFill>
              </a:rPr>
              <a:t>   Related Work</a:t>
            </a:r>
          </a:p>
          <a:p>
            <a:pPr>
              <a:spcBef>
                <a:spcPts val="500"/>
              </a:spcBef>
            </a:pPr>
            <a:r>
              <a:rPr lang="en-US" dirty="0" b="1" sz="1600">
                <a:solidFill>
                  <a:srgbClr val="C00000"/>
                </a:solidFill>
              </a:rPr>
              <a:t>04</a:t>
            </a:r>
            <a:r>
              <a:rPr lang="en-US" dirty="0" b="0" sz="1600">
                <a:solidFill>
                  <a:srgbClr val="222222"/>
                </a:solidFill>
              </a:rPr>
              <a:t>   Dataset &amp; Preprocessing</a:t>
            </a:r>
          </a:p>
          <a:p>
            <a:pPr>
              <a:spcBef>
                <a:spcPts val="500"/>
              </a:spcBef>
            </a:pPr>
            <a:r>
              <a:rPr lang="en-US" dirty="0" b="1" sz="1600">
                <a:solidFill>
                  <a:srgbClr val="C00000"/>
                </a:solidFill>
              </a:rPr>
              <a:t>05</a:t>
            </a:r>
            <a:r>
              <a:rPr lang="en-US" dirty="0" b="0" sz="1600">
                <a:solidFill>
                  <a:srgbClr val="222222"/>
                </a:solidFill>
              </a:rPr>
              <a:t>   Proposed Architecture Overview</a:t>
            </a:r>
          </a:p>
          <a:p>
            <a:pPr>
              <a:spcBef>
                <a:spcPts val="500"/>
              </a:spcBef>
            </a:pPr>
            <a:r>
              <a:rPr lang="en-US" dirty="0" b="1" sz="1600">
                <a:solidFill>
                  <a:srgbClr val="C00000"/>
                </a:solidFill>
              </a:rPr>
              <a:t>06</a:t>
            </a:r>
            <a:r>
              <a:rPr lang="en-US" dirty="0" b="0" sz="1600">
                <a:solidFill>
                  <a:srgbClr val="222222"/>
                </a:solidFill>
              </a:rPr>
              <a:t>   Video &amp; Audio Stream Architecture</a:t>
            </a:r>
          </a:p>
          <a:p>
            <a:pPr>
              <a:spcBef>
                <a:spcPts val="500"/>
              </a:spcBef>
            </a:pPr>
            <a:r>
              <a:rPr lang="en-US" dirty="0" b="1" sz="1600">
                <a:solidFill>
                  <a:srgbClr val="C00000"/>
                </a:solidFill>
              </a:rPr>
              <a:t>07</a:t>
            </a:r>
            <a:r>
              <a:rPr lang="en-US" dirty="0" b="0" sz="1600">
                <a:solidFill>
                  <a:srgbClr val="222222"/>
                </a:solidFill>
              </a:rPr>
              <a:t>   Cross-Modal Attention Fusion</a:t>
            </a:r>
          </a:p>
          <a:p>
            <a:pPr>
              <a:spcBef>
                <a:spcPts val="500"/>
              </a:spcBef>
            </a:pPr>
            <a:r>
              <a:rPr lang="en-US" dirty="0" b="1" sz="1600">
                <a:solidFill>
                  <a:srgbClr val="C00000"/>
                </a:solidFill>
              </a:rPr>
              <a:t>08</a:t>
            </a:r>
            <a:r>
              <a:rPr lang="en-US" dirty="0" b="0" sz="1600">
                <a:solidFill>
                  <a:srgbClr val="222222"/>
                </a:solidFill>
              </a:rPr>
              <a:t>   Experimental Results</a:t>
            </a:r>
          </a:p>
          <a:p>
            <a:pPr>
              <a:spcBef>
                <a:spcPts val="500"/>
              </a:spcBef>
            </a:pPr>
            <a:r>
              <a:rPr lang="en-US" dirty="0" b="1" sz="1600">
                <a:solidFill>
                  <a:srgbClr val="C00000"/>
                </a:solidFill>
              </a:rPr>
              <a:t>09</a:t>
            </a:r>
            <a:r>
              <a:rPr lang="en-US" dirty="0" b="0" sz="1600">
                <a:solidFill>
                  <a:srgbClr val="222222"/>
                </a:solidFill>
              </a:rPr>
              <a:t>   Comparative Analysis &amp; Ablation</a:t>
            </a:r>
          </a:p>
          <a:p>
            <a:pPr>
              <a:spcBef>
                <a:spcPts val="500"/>
              </a:spcBef>
            </a:pPr>
            <a:r>
              <a:rPr lang="en-US" dirty="0" b="1" sz="1600">
                <a:solidFill>
                  <a:srgbClr val="C00000"/>
                </a:solidFill>
              </a:rPr>
              <a:t>10</a:t>
            </a:r>
            <a:r>
              <a:rPr lang="en-US" dirty="0" b="0" sz="1600">
                <a:solidFill>
                  <a:srgbClr val="222222"/>
                </a:solidFill>
              </a:rPr>
              <a:t>   Conclusion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1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dirty="0" b="1" sz="1200">
                <a:solidFill>
                  <a:srgbClr val="FFFFFF"/>
                </a:solidFill>
              </a:rPr>
              <a:t>May 29–31,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3750" y="2669540"/>
            <a:ext cx="7911465" cy="1136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en-IN" sz="3200" dirty="0">
                <a:solidFill>
                  <a:srgbClr val="7030A0"/>
                </a:solidFill>
              </a:rPr>
              <a:t>Maximum 8 to 10 slides about your work.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of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1" sz="2600">
                <a:solidFill>
                  <a:srgbClr val="0E2841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3750" y="1119505"/>
            <a:ext cx="7911465" cy="512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400"/>
              </a:spcBef>
            </a:pPr>
            <a:r>
              <a:rPr lang="en-US" dirty="0" b="1" sz="1700">
                <a:solidFill>
                  <a:srgbClr val="0E2841"/>
                </a:solidFill>
              </a:rPr>
              <a:t>1.  Novel Synchronicity-Aware Framework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Dual-stream architecture (ResNet50-BiGRU + CNN-BiGRU) with 8-head cross-modal attention explicitly captures audio-visual biological synchronicity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400"/>
              </a:spcBef>
            </a:pPr>
            <a:r>
              <a:rPr lang="en-US" dirty="0" b="1" sz="1700">
                <a:solidFill>
                  <a:srgbClr val="0E2841"/>
                </a:solidFill>
              </a:rPr>
              <a:t>2.  Superior Detection Performance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92.5% accuracy and AUC-ROC 0.94 on 28,461-video composite dataset (FakeAVCeleb + AV-Deepfake1M++)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400"/>
              </a:spcBef>
            </a:pPr>
            <a:r>
              <a:rPr lang="en-US" dirty="0" b="1" sz="1700">
                <a:solidFill>
                  <a:srgbClr val="0E2841"/>
                </a:solidFill>
              </a:rPr>
              <a:t>3.  Cross-Modal Attention is the Key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+8.4% gain over naïve fusion; attention focuses on phoneme–viseme temporal misalignments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400"/>
              </a:spcBef>
            </a:pPr>
            <a:r>
              <a:rPr lang="en-US" dirty="0" b="1" sz="1700">
                <a:solidFill>
                  <a:srgbClr val="0E2841"/>
                </a:solidFill>
              </a:rPr>
              <a:t>4.  Demographically Fair &amp; Compression-Robust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&lt; 2% performance variance across race and gender; robustness to H.264 evaluated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400"/>
              </a:spcBef>
            </a:pPr>
            <a:r>
              <a:rPr lang="en-US" dirty="0" b="1" sz="1700">
                <a:solidFill>
                  <a:srgbClr val="0E2841"/>
                </a:solidFill>
              </a:rPr>
              <a:t>5.  Future Directions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Transformer-based temporal modeling  |  Frequency-sensitive representations  |  Fairness-aware training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1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dirty="0" b="1" sz="1200">
                <a:solidFill>
                  <a:srgbClr val="FFFFFF"/>
                </a:solidFill>
              </a:rPr>
              <a:t>May 29–31,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US" dirty="0"/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7" name="TextBox 8"/>
          <p:cNvSpPr txBox="1"/>
          <p:nvPr/>
        </p:nvSpPr>
        <p:spPr>
          <a:xfrm>
            <a:off x="650414" y="1050000"/>
            <a:ext cx="7911465" cy="52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300"/>
              </a:spcBef>
            </a:pPr>
            <a:r>
              <a:rPr lang="en-US" dirty="0" b="0" sz="1200">
                <a:solidFill>
                  <a:srgbClr val="222222"/>
                </a:solidFill>
              </a:rPr>
              <a:t>[1]  Z. Cai et al., "AV-Deepfake1M++: A Large-Scale Audio-Visual Deepfake Benchmark with Real-World Perturbations," arXiv:2507.20579, 2025.</a:t>
            </a:r>
          </a:p>
          <a:p>
            <a:pPr>
              <a:spcBef>
                <a:spcPts val="600"/>
              </a:spcBef>
            </a:pPr>
            <a:r>
              <a:rPr lang="en-US" dirty="0" b="0" sz="1200">
                <a:solidFill>
                  <a:srgbClr val="222222"/>
                </a:solidFill>
              </a:rPr>
              <a:t>[2]  H. Khalid et al., "FakeAVCeleb: A Novel Audio-Video Multimodal Deepfake Dataset," arXiv:2108.05080, 2022.</a:t>
            </a:r>
          </a:p>
          <a:p>
            <a:pPr>
              <a:spcBef>
                <a:spcPts val="600"/>
              </a:spcBef>
            </a:pPr>
            <a:r>
              <a:rPr lang="en-US" dirty="0" b="0" sz="1200">
                <a:solidFill>
                  <a:srgbClr val="222222"/>
                </a:solidFill>
              </a:rPr>
              <a:t>[3]  W. Yang et al., "AVoiD-DF: Audio-Visual Joint Learning for Detecting Deepfake," IEEE TIFS, vol. 18, pp. 2015-2029, 2023.</a:t>
            </a:r>
          </a:p>
          <a:p>
            <a:pPr>
              <a:spcBef>
                <a:spcPts val="600"/>
              </a:spcBef>
            </a:pPr>
            <a:r>
              <a:rPr lang="en-US" dirty="0" b="0" sz="1200">
                <a:solidFill>
                  <a:srgbClr val="222222"/>
                </a:solidFill>
              </a:rPr>
              <a:t>[4]  V. S. Katamneni and A. Rattani, "Contextual Cross-Modal Attention for Audio-Visual Deepfake Detection," IEEE IJCB, 2024.</a:t>
            </a:r>
          </a:p>
          <a:p>
            <a:pPr>
              <a:spcBef>
                <a:spcPts val="600"/>
              </a:spcBef>
            </a:pPr>
            <a:r>
              <a:rPr lang="en-US" dirty="0" b="0" sz="1200">
                <a:solidFill>
                  <a:srgbClr val="222222"/>
                </a:solidFill>
              </a:rPr>
              <a:t>[5]  A. Haliassos et al., "Lips Don't Lie: A Generalisable and Robust Approach to Face Forgery Detection," CVPR, 2021.</a:t>
            </a:r>
          </a:p>
          <a:p>
            <a:pPr>
              <a:spcBef>
                <a:spcPts val="600"/>
              </a:spcBef>
            </a:pPr>
            <a:r>
              <a:rPr lang="en-US" dirty="0" b="0" sz="1200">
                <a:solidFill>
                  <a:srgbClr val="222222"/>
                </a:solidFill>
              </a:rPr>
              <a:t>[6]  E. Sabir et al., "Recurrent Convolutional Strategies for Face Manipulation Detection in Videos," arXiv:1905.00582, 2019.</a:t>
            </a:r>
          </a:p>
          <a:p>
            <a:pPr>
              <a:spcBef>
                <a:spcPts val="600"/>
              </a:spcBef>
            </a:pPr>
            <a:r>
              <a:rPr lang="en-US" dirty="0" b="0" sz="1200">
                <a:solidFill>
                  <a:srgbClr val="222222"/>
                </a:solidFill>
              </a:rPr>
              <a:t>[7]  A. Hashmi et al., "AVTENet: A Human-Cognition-Inspired Audio-Visual Transformer-Based Ensemble Network for Video Deepfake Detection," IEEE TCDS, vol. 17, no. 6, 2025.</a:t>
            </a:r>
          </a:p>
          <a:p>
            <a:pPr>
              <a:spcBef>
                <a:spcPts val="600"/>
              </a:spcBef>
            </a:pPr>
            <a:r>
              <a:rPr lang="en-US" dirty="0" b="0" sz="1200">
                <a:solidFill>
                  <a:srgbClr val="222222"/>
                </a:solidFill>
              </a:rPr>
              <a:t>[8]  N. Khan et al., "CAMME: Adaptive Deepfake Image Detection with Multi-Modal Cross-Attention," arXiv:2505.18035, 2025.</a:t>
            </a:r>
          </a:p>
        </p:txBody>
      </p:sp>
      <p:sp>
        <p:nvSpPr>
          <p:cNvPr id="9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dirty="0" b="1" sz="1200">
                <a:solidFill>
                  <a:srgbClr val="FFFFFF"/>
                </a:solidFill>
              </a:rPr>
              <a:t>May 29–31,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1" sz="2600">
                <a:solidFill>
                  <a:srgbClr val="0E2841"/>
                </a:solidFill>
              </a:rPr>
              <a:t>INTRODUCTION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3750" y="1119505"/>
            <a:ext cx="7911465" cy="512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Rise of Synthetic Media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GANs and diffusion models produce hyper-realistic deepfakes manipulating face AND voice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Social consequences: political disinformation, financial fraud, identity theft, non-consensual media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Limitations of Unimodal Detection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Visual detectors: spatial artifacts (blinking, lighting, interpolation noise)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Audio detectors: spectral anomalies and vocoder artifacts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Hybrid deepfakes (real video + synthetic voice) bypass both unimodal detectors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Key Insight — Biological Synchronicity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In natural speech, facial articulation precedes acoustic emission by ~50 ms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Synthetic models (trained on independent audio/video objectives) fail to replicate this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This phoneme–viseme temporal gap is the discriminative cue our model exploits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1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dirty="0" b="1" sz="1200">
                <a:solidFill>
                  <a:srgbClr val="FFFFFF"/>
                </a:solidFill>
              </a:rPr>
              <a:t>May 29–31,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1" sz="2600">
                <a:solidFill>
                  <a:srgbClr val="0E2841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3750" y="1119505"/>
            <a:ext cx="7911465" cy="512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What Are Multimodal Deepfakes?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Videos where audio, video, or both modalities are synthetically generated or swapped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Four categories: Real-Real | Real-Fake | Fake-Real | Fake-Fake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Why Unimodal Detectors Fail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High-quality synthesis suppresses low-level spatial/spectral artifacts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No cross-modal reasoning → vulnerable to cross-modal inconsistencies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Performance degrades significantly under lossy compression (H.264/H.265)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Research Objectives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Explicitly model audio-visual biological synchronicity for detection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Handle diverse manipulation types: face-swap, TTS, voice cloning, lip-sync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Ensure demographic fairness (race, gender) and robustness to compression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1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dirty="0" b="1" sz="1200">
                <a:solidFill>
                  <a:srgbClr val="FFFFFF"/>
                </a:solidFill>
              </a:rPr>
              <a:t>May 29–31,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1" sz="2600">
                <a:solidFill>
                  <a:srgbClr val="0E2841"/>
                </a:solidFill>
              </a:rPr>
              <a:t>RELATED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3750" y="1119505"/>
            <a:ext cx="7911465" cy="512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Unimodal Detection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MesoNet, XceptionNet: visual spatial artifact detection  →  76–82% accuracy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Sabir et al. (2019): recurrent CNN for temporal motion anomaly detection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Audio detectors: spectral analysis, vocoder artifact identification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Multimodal &amp; Synchronisation-Based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AVoiD-DF (Yang et al., IEEE TIFS 2023): joint audio-visual learning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Lips Don't Lie (Haliassos et al., CVPR 2021): generalisable lip-based detection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AVTENet (Hashmi et al., IEEE TCDS 2025): human-cognition-inspired AV transformer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Cross-Modal Attention Approaches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Katamneni &amp; Rattani (IEEE IJCB 2024): contextual cross-modal attention for AV detection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CAMME (Khan et al., 2025): adaptive deepfake detection with multi-modal cross-attention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Gaps Addressed by This Work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Most prior work lacks explicit biological synchronicity modeling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Demographic fairness and compression robustness rarely evaluated jointly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1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dirty="0" b="1" sz="1200">
                <a:solidFill>
                  <a:srgbClr val="FFFFFF"/>
                </a:solidFill>
              </a:rPr>
              <a:t>May 29–31,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1" sz="2600">
                <a:solidFill>
                  <a:srgbClr val="0E2841"/>
                </a:solidFill>
              </a:rPr>
              <a:t>DATASET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3750" y="1119505"/>
            <a:ext cx="7911465" cy="512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Dataset 1 — FakeAVCeleb  (Khalid et al., 2022)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500 subjects across diverse demographics: African, Asian, Caucasian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4 manipulation categories via Faceswap, SV2TTS, Wav2Lip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Dataset 2 — AV-Deepfake1M++  (Cai et al., 2025)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High-quality TTS and voice conversion attacks with modern generation pipelines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Representative stratified sample for computational feasibility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Combined Dataset:  28,461 videos  |  Test set: 4,270 videos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Preprocessing Pipeline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Video:   16 frames extracted, resized to 224×224, normalised to [0, 1]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Audio:   16 kHz resample → 3 s clip → Mel spectrogram (128×94) via STFT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Visual augment:  random flip, ±10° rotation, colour jitter, Gaussian blur, random erasing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Audio augment:   time stretch (0.8–1.2×), pitch shift (±2 steps), SpecAugment, BG noise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1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dirty="0" b="1" sz="1200">
                <a:solidFill>
                  <a:srgbClr val="FFFFFF"/>
                </a:solidFill>
              </a:rPr>
              <a:t>May 29–31,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1" sz="2600">
                <a:solidFill>
                  <a:srgbClr val="0E2841"/>
                </a:solidFill>
              </a:rPr>
              <a:t>PROPOSED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3750" y="1119505"/>
            <a:ext cx="7911465" cy="512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Synchronicity-Aware Dual-Stream Deep Learning Framework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Two parallel streams process video and audio independently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Each stream: CNN backbone  +  Bidirectional GRU for temporal modeling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Streams fused via 8-head Multi-Head Cross-Modal Attention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Output: 4-class softmax  (Real-Real | Real-Fake | Fake-Real | Fake-Fake)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Design Rationale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CNN  →  learns discriminative spatial/spectral features per frame / spectrogram bin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Bi-GRU  →  models long-range temporal dynamics bidirectionally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Cross-modal attention  →  detects phoneme–viseme misalignment dynamically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4-class output  →  fine-grained forensic identification of manipulation type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Implementation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Framework: PyTorch  |  Backbone: ResNet50 pretrained on ImageNet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Dropout p = 0.3 in classification head for regularisation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1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dirty="0" b="1" sz="1200">
                <a:solidFill>
                  <a:srgbClr val="FFFFFF"/>
                </a:solidFill>
              </a:rPr>
              <a:t>May 29–31,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1" sz="2600">
                <a:solidFill>
                  <a:srgbClr val="0E2841"/>
                </a:solidFill>
              </a:rPr>
              <a:t>VIDEO &amp; AUDIO STREAM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3750" y="1119505"/>
            <a:ext cx="7911465" cy="512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Video Stream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Backbone:  ResNet50 (pretrained, ImageNet)</a:t>
            </a:r>
          </a:p>
          <a:p>
            <a:pPr>
              <a:spcBef>
                <a:spcPts val="200"/>
              </a:spcBef>
            </a:pPr>
            <a:r>
              <a:rPr lang="en-US" dirty="0" b="0" sz="1200">
                <a:solidFill>
                  <a:srgbClr val="595959"/>
                </a:solidFill>
              </a:rPr>
              <a:t>      –  Layers 1–3 frozen   |   Layer 4 fine-tuned for deepfake-specific artifacts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Frame features:  2048-D embedding per frame  (16 frames per video)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Temporal modeling:  2-layer Bi-GRU, hidden size 512  →  1024-D output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Captures:  unnatural blinking, head motion anomalies, frame discontinuities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Audio Stream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Input:  Mel spectrogram  (128 × 94)  from STFT (FFT=2048, hop=512, bins=128)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Feature extractor:  4-layer custom CNN  (64 → 128 → 256 → 512 channels)</a:t>
            </a:r>
          </a:p>
          <a:p>
            <a:pPr>
              <a:spcBef>
                <a:spcPts val="200"/>
              </a:spcBef>
            </a:pPr>
            <a:r>
              <a:rPr lang="en-US" dirty="0" b="0" sz="1200">
                <a:solidFill>
                  <a:srgbClr val="595959"/>
                </a:solidFill>
              </a:rPr>
              <a:t>      –  Each block:  Conv → ReLU → MaxPool (progressive channel expansion)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Temporal modeling:  2-layer Bi-GRU, hidden size 256  →  512-D output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Captures:  prosodic discontinuities, vocoder artifacts, rhythmic anomalies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1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dirty="0" b="1" sz="1200">
                <a:solidFill>
                  <a:srgbClr val="FFFFFF"/>
                </a:solidFill>
              </a:rPr>
              <a:t>May 29–31,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1" sz="2600">
                <a:solidFill>
                  <a:srgbClr val="0E2841"/>
                </a:solidFill>
              </a:rPr>
              <a:t>CROSS-MODAL ATTENTION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3750" y="1119505"/>
            <a:ext cx="7911465" cy="512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Multi-Head Attention Mechanism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Video (2048-D)  +  Audio (512-D)  →  concatenated  (2560-D)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8-head Multi-Head Attention applied over the combined representation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Each head learns a distinct aspect of audio-visual temporal correlation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Dynamically weights modality cues based on cross-modal disagreement level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Why Attention Over Naïve Concatenation?</a:t>
            </a:r>
          </a:p>
          <a:p>
            <a:pPr>
              <a:spcBef>
                <a:spcPts val="600"/>
              </a:spcBef>
            </a:pPr>
            <a:r>
              <a:rPr lang="en-US" dirty="0" b="1" sz="1400">
                <a:solidFill>
                  <a:srgbClr val="595959"/>
                </a:solidFill>
              </a:rPr>
              <a:t>  Naïve concatenation: </a:t>
            </a:r>
            <a:r>
              <a:rPr lang="en-US" dirty="0" b="0" sz="1400">
                <a:solidFill>
                  <a:srgbClr val="595959"/>
                </a:solidFill>
              </a:rPr>
              <a:t>84.1%   →   </a:t>
            </a:r>
            <a:r>
              <a:rPr lang="en-US" dirty="0" b="1" sz="1400">
                <a:solidFill>
                  <a:srgbClr val="0E2841"/>
                </a:solidFill>
              </a:rPr>
              <a:t>Cross-modal attention: </a:t>
            </a:r>
            <a:r>
              <a:rPr lang="en-US" dirty="0" b="1" sz="1400">
                <a:solidFill>
                  <a:srgbClr val="C00000"/>
                </a:solidFill>
              </a:rPr>
              <a:t>92.5%   (+8.4%)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Attention focuses on temporal regions where phoneme–viseme are misaligned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Learns fine-grained inter-modal relationships, not just global feature statistics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Classification Head  (FFN)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1536-D → 512-D → 256-D → 4 classes   (ReLU + Dropout p=0.3)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Outputs logits for:  Real-Real  |  Real-Fake  |  Fake-Real  |  Fake-Fake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1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dirty="0" b="1" sz="1200">
                <a:solidFill>
                  <a:srgbClr val="FFFFFF"/>
                </a:solidFill>
              </a:rPr>
              <a:t>May 29–31,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1" sz="2600">
                <a:solidFill>
                  <a:srgbClr val="0E2841"/>
                </a:solidFill>
              </a:rPr>
              <a:t>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3750" y="1119505"/>
            <a:ext cx="7911465" cy="512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Evaluation Setup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Test set:  4,270 videos  (stratified from FakeAVCeleb + AV-Deepfake1M++)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Metrics:  Accuracy, AUC-ROC, F1-Score (Macro), Precision, Recall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Quantitative Performance</a:t>
            </a:r>
          </a:p>
          <a:p>
            <a:r>
              <a:rPr lang="en-US" dirty="0" b="1" sz="1400">
                <a:solidFill>
                  <a:srgbClr val="0E2841"/>
                </a:solidFill>
              </a:rPr>
              <a:t>  Accuracy                            </a:t>
            </a:r>
            <a:r>
              <a:rPr lang="en-US" dirty="0" b="0" sz="1400">
                <a:solidFill>
                  <a:srgbClr val="222222"/>
                </a:solidFill>
              </a:rPr>
              <a:t>92.5%</a:t>
            </a:r>
          </a:p>
          <a:p>
            <a:r>
              <a:rPr lang="en-US" dirty="0" b="1" sz="1400">
                <a:solidFill>
                  <a:srgbClr val="0E2841"/>
                </a:solidFill>
              </a:rPr>
              <a:t>  AUC-ROC                             </a:t>
            </a:r>
            <a:r>
              <a:rPr lang="en-US" dirty="0" b="0" sz="1400">
                <a:solidFill>
                  <a:srgbClr val="222222"/>
                </a:solidFill>
              </a:rPr>
              <a:t>0.940</a:t>
            </a:r>
          </a:p>
          <a:p>
            <a:r>
              <a:rPr lang="en-US" dirty="0" b="1" sz="1400">
                <a:solidFill>
                  <a:srgbClr val="0E2841"/>
                </a:solidFill>
              </a:rPr>
              <a:t>  F1-Score  (Macro)                   </a:t>
            </a:r>
            <a:r>
              <a:rPr lang="en-US" dirty="0" b="0" sz="1400">
                <a:solidFill>
                  <a:srgbClr val="222222"/>
                </a:solidFill>
              </a:rPr>
              <a:t>0.900</a:t>
            </a:r>
          </a:p>
          <a:p>
            <a:r>
              <a:rPr lang="en-US" dirty="0" b="1" sz="1400">
                <a:solidFill>
                  <a:srgbClr val="0E2841"/>
                </a:solidFill>
              </a:rPr>
              <a:t>  Precision  (Fully Fake)             </a:t>
            </a:r>
            <a:r>
              <a:rPr lang="en-US" dirty="0" b="0" sz="1400">
                <a:solidFill>
                  <a:srgbClr val="222222"/>
                </a:solidFill>
              </a:rPr>
              <a:t>0.910</a:t>
            </a:r>
          </a:p>
          <a:p>
            <a:r>
              <a:rPr lang="en-US" dirty="0" b="1" sz="1400">
                <a:solidFill>
                  <a:srgbClr val="0E2841"/>
                </a:solidFill>
              </a:rPr>
              <a:t>  Recall  (Fully Fake)                </a:t>
            </a:r>
            <a:r>
              <a:rPr lang="en-US" dirty="0" b="0" sz="1400">
                <a:solidFill>
                  <a:srgbClr val="222222"/>
                </a:solidFill>
              </a:rPr>
              <a:t>0.900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Ablation — Individual Stream Contribution</a:t>
            </a:r>
          </a:p>
          <a:p>
            <a:r>
              <a:rPr lang="en-US" dirty="0" b="1" sz="1300">
                <a:solidFill>
                  <a:srgbClr val="595959"/>
                </a:solidFill>
              </a:rPr>
              <a:t>  Audio-Only  (CNN + BiGRU)           </a:t>
            </a:r>
            <a:r>
              <a:rPr lang="en-US" dirty="0" b="0" sz="1300">
                <a:solidFill>
                  <a:srgbClr val="222222"/>
                </a:solidFill>
              </a:rPr>
              <a:t>79.8%</a:t>
            </a:r>
          </a:p>
          <a:p>
            <a:r>
              <a:rPr lang="en-US" dirty="0" b="1" sz="1300">
                <a:solidFill>
                  <a:srgbClr val="595959"/>
                </a:solidFill>
              </a:rPr>
              <a:t>  Video-Only  (ResNet50 + BiGRU)      </a:t>
            </a:r>
            <a:r>
              <a:rPr lang="en-US" dirty="0" b="0" sz="1300">
                <a:solidFill>
                  <a:srgbClr val="222222"/>
                </a:solidFill>
              </a:rPr>
              <a:t>82.3%</a:t>
            </a:r>
          </a:p>
          <a:p>
            <a:r>
              <a:rPr lang="en-US" dirty="0" b="1" sz="1300">
                <a:solidFill>
                  <a:srgbClr val="C00000"/>
                </a:solidFill>
              </a:rPr>
              <a:t>  Multimodal Fusion  (proposed)       </a:t>
            </a:r>
            <a:r>
              <a:rPr lang="en-US" dirty="0" b="0" sz="1300">
                <a:solidFill>
                  <a:srgbClr val="222222"/>
                </a:solidFill>
              </a:rPr>
              <a:t>92.5%  (+10.2 pp over audio-only)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1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dirty="0" b="1" sz="1200">
                <a:solidFill>
                  <a:srgbClr val="FFFFFF"/>
                </a:solidFill>
              </a:rPr>
              <a:t>May 29–31,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1" sz="2600">
                <a:solidFill>
                  <a:srgbClr val="0E2841"/>
                </a:solidFill>
              </a:rPr>
              <a:t>COMPARATIVE ANALYSIS &amp; ABLATION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3750" y="1119505"/>
            <a:ext cx="7911465" cy="512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Comparison with State-of-the-Art Models</a:t>
            </a:r>
          </a:p>
          <a:p>
            <a:pPr>
              <a:spcBef>
                <a:spcPts val="400"/>
              </a:spcBef>
            </a:pPr>
            <a:r>
              <a:rPr lang="en-US" dirty="0" b="1" sz="1300">
                <a:solidFill>
                  <a:srgbClr val="0E2841"/>
                </a:solidFill>
              </a:rPr>
              <a:t>  Model</a:t>
            </a:r>
            <a:r>
              <a:rPr lang="en-US" dirty="0" b="1" sz="1300">
                <a:solidFill>
                  <a:srgbClr val="0E2841"/>
                </a:solidFill>
              </a:rPr>
              <a:t>                        Acc.</a:t>
            </a:r>
            <a:r>
              <a:rPr lang="en-US" dirty="0" b="1" sz="1300">
                <a:solidFill>
                  <a:srgbClr val="0E2841"/>
                </a:solidFill>
              </a:rPr>
              <a:t>     Modality</a:t>
            </a:r>
          </a:p>
          <a:p>
            <a:r>
              <a:rPr lang="en-US" dirty="0" b="1" sz="1300">
                <a:solidFill>
                  <a:srgbClr val="C00000"/>
                </a:solidFill>
              </a:rPr>
              <a:t>  Proposed Model (ours)</a:t>
            </a:r>
            <a:r>
              <a:rPr lang="en-US" dirty="0" b="1" sz="1300">
                <a:solidFill>
                  <a:srgbClr val="C00000"/>
                </a:solidFill>
              </a:rPr>
              <a:t>         92.5%</a:t>
            </a:r>
            <a:r>
              <a:rPr lang="en-US" dirty="0" b="1" sz="1300">
                <a:solidFill>
                  <a:srgbClr val="C00000"/>
                </a:solidFill>
              </a:rPr>
              <a:t>    Video + Audio</a:t>
            </a:r>
          </a:p>
          <a:p>
            <a:r>
              <a:rPr lang="en-US" dirty="0" b="0" sz="1300">
                <a:solidFill>
                  <a:srgbClr val="222222"/>
                </a:solidFill>
              </a:rPr>
              <a:t>  Simple Concatenation (ours)          84.1%    Video + Audio</a:t>
            </a:r>
          </a:p>
          <a:p>
            <a:r>
              <a:rPr lang="en-US" dirty="0" b="0" sz="1300">
                <a:solidFill>
                  <a:srgbClr val="222222"/>
                </a:solidFill>
              </a:rPr>
              <a:t>  XceptionNet                            81.9%    Video Only</a:t>
            </a:r>
          </a:p>
          <a:p>
            <a:r>
              <a:rPr lang="en-US" dirty="0" b="0" sz="1300">
                <a:solidFill>
                  <a:srgbClr val="222222"/>
                </a:solidFill>
              </a:rPr>
              <a:t>  ResNet50  (Baseline)                  78.5%    Video Only</a:t>
            </a:r>
          </a:p>
          <a:p>
            <a:r>
              <a:rPr lang="en-US" dirty="0" b="0" sz="1300">
                <a:solidFill>
                  <a:srgbClr val="222222"/>
                </a:solidFill>
              </a:rPr>
              <a:t>  MesoNet                                 76.2%    Video Only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Key Ablation Findings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Attention vs. concatenation:  +8.4% accuracy  →  cross-modal reasoning is critical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Multimodal vs. best unimodal:  +10.2% accuracy  →  complementary modality cues</a:t>
            </a:r>
          </a:p>
          <a:p>
            <a:r>
              <a:rPr lang="en-US" dirty="0" sz="600"/>
              <a:t/>
            </a:r>
          </a:p>
          <a:p>
            <a:pPr>
              <a:spcBef>
                <a:spcPts val="800"/>
              </a:spcBef>
            </a:pPr>
            <a:r>
              <a:rPr lang="en-US" dirty="0" b="1" sz="2200">
                <a:solidFill>
                  <a:srgbClr val="0E2841"/>
                </a:solidFill>
              </a:rPr>
              <a:t>Demographic Fairness &amp; Robustness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Composite dataset training  →  bias variance &lt; 2.0% across race and gender groups</a:t>
            </a:r>
          </a:p>
          <a:p>
            <a:pPr>
              <a:spcBef>
                <a:spcPts val="300"/>
              </a:spcBef>
            </a:pPr>
            <a:r>
              <a:rPr lang="en-US" dirty="0" b="0" sz="1400">
                <a:solidFill>
                  <a:srgbClr val="222222"/>
                </a:solidFill>
              </a:rPr>
              <a:t>  •  Performance degrades under heavy H.264 compression; frequency-sensitive features could help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1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dirty="0" b="1" sz="1200">
                <a:solidFill>
                  <a:srgbClr val="FFFFFF"/>
                </a:solidFill>
              </a:rPr>
              <a:t>May 29–31,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182</Words>
  <Application>Microsoft Office PowerPoint</Application>
  <PresentationFormat>On-screen Show (4:3)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Custom Design</vt:lpstr>
      <vt:lpstr>Default Design</vt:lpstr>
      <vt:lpstr>             Fourth International Conference  on             (with IEEE Delhi Section as Technical Sponsor) Secure Cyber Computing and Communications         “Future-ready Cyber Security: Trust, Intelligence, and Resilience in a Hyperconnected World” [IEEE Conference Record No. #69031] MAY 29-31 2026 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dc:description>generated using python-pptx</dc:description>
  <cp:lastModifiedBy>Urvashi Garg</cp:lastModifiedBy>
  <cp:revision>26</cp:revision>
  <dcterms:created xsi:type="dcterms:W3CDTF">2013-01-27T09:14:00Z</dcterms:created>
  <dcterms:modified xsi:type="dcterms:W3CDTF">2026-05-13T04:30:51Z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DEED2936B8544C20ACCFA1EC6033C127_13</vt:lpwstr>
  </property>
  <property fmtid="{D5CDD505-2E9C-101B-9397-08002B2CF9AE}" pid="3" name="KSOProductBuildVer">
    <vt:lpwstr>1033-12.2.0.21179</vt:lpwstr>
  </property>
</Properties>
</file>