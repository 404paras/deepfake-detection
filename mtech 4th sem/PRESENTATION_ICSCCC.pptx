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76" r:id="rId3"/>
    <p:sldId id="273" r:id="rId4"/>
    <p:sldId id="272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74" r:id="rId13"/>
    <p:sldId id="275" r:id="rId14"/>
    <p:sldId id="28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D5"/>
    <a:srgbClr val="E8AF90"/>
    <a:srgbClr val="E6A886"/>
    <a:srgbClr val="9933FF"/>
    <a:srgbClr val="FFFFFF"/>
    <a:srgbClr val="F369C2"/>
    <a:srgbClr val="F79FD8"/>
    <a:srgbClr val="FA1EBB"/>
    <a:srgbClr val="F686BE"/>
    <a:srgbClr val="F08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03"/>
    <p:restoredTop sz="95818"/>
  </p:normalViewPr>
  <p:slideViewPr>
    <p:cSldViewPr snapToGrid="0" snapToObjects="1" showGuides="1">
      <p:cViewPr varScale="1">
        <p:scale>
          <a:sx n="136" d="100"/>
          <a:sy n="136" d="100"/>
        </p:scale>
        <p:origin x="1168" y="200"/>
      </p:cViewPr>
      <p:guideLst>
        <p:guide orient="horz" pos="2159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8E07A-AC5A-42A0-B8BF-C26A762143FB}" type="datetimeFigureOut">
              <a:rPr lang="en-IN" smtClean="0"/>
              <a:t>31/05/26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F4389-A799-47C1-910E-26CADEA7C86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D9596-BC05-4E79-B255-68A09CBFEF8A}" type="datetime3">
              <a:rPr lang="en-US" smtClean="0"/>
              <a:t>31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D062-BA64-43D8-8A03-BAFBC365175F}" type="datetime3">
              <a:rPr lang="en-US" smtClean="0"/>
              <a:t>31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9D21-873E-45D6-AB21-9C3A38F59FA0}" type="datetime3">
              <a:rPr lang="en-US" smtClean="0"/>
              <a:t>31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2525-D047-4CD3-8357-05FB9DA01CEA}" type="datetime3">
              <a:rPr lang="en-US" smtClean="0"/>
              <a:t>31 May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7D30-2E48-4659-BF21-E5734ECE3686}" type="datetime3">
              <a:rPr lang="en-US" smtClean="0"/>
              <a:t>31 May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CAC13-612E-423E-AF56-D0BBA7092890}" type="datetime3">
              <a:rPr lang="en-US" smtClean="0"/>
              <a:t>31 May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2907-9C20-432B-8972-B2420015072C}" type="datetime3">
              <a:rPr lang="en-US" smtClean="0"/>
              <a:t>31 May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9B6E-C09F-4B2F-B826-A6685DEC8383}" type="datetime3">
              <a:rPr lang="en-US" smtClean="0"/>
              <a:t>31 May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03EC1-B239-4E7D-8D2B-717879EE610E}" type="datetime3">
              <a:rPr lang="en-US" smtClean="0"/>
              <a:t>31 May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67F10-45E8-4ED8-9572-F9FC61AB65EA}" type="datetime3">
              <a:rPr lang="en-US" smtClean="0"/>
              <a:t>31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E36-0539-4F62-88A1-42EFE56CC950}" type="datetime3">
              <a:rPr lang="en-US" smtClean="0"/>
              <a:t>31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386-8925-4DC7-BFE5-B430DB61766C}" type="datetime3">
              <a:rPr lang="en-US" smtClean="0"/>
              <a:t>31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E302-DF01-4F9F-AB19-FDADA183D4F7}" type="datetime3">
              <a:rPr lang="en-US" smtClean="0"/>
              <a:t>31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1403-745D-46D9-AB63-F32EF0537461}" type="datetime3">
              <a:rPr lang="en-US" smtClean="0"/>
              <a:t>31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9D3A-5E00-4B88-B672-1AE807AA8836}" type="datetime3">
              <a:rPr lang="en-US" smtClean="0"/>
              <a:t>31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48114-3B2E-43FF-A5A5-9F78B714475A}" type="datetime3">
              <a:rPr lang="en-US" smtClean="0"/>
              <a:t>31 May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3968-0373-4DF4-A59F-EEF6C7BDA779}" type="datetime3">
              <a:rPr lang="en-US" smtClean="0"/>
              <a:t>31 May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9D174-AF7D-4777-9721-051F5BF4164A}" type="datetime3">
              <a:rPr lang="en-US" smtClean="0"/>
              <a:t>31 May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C530A-0298-4DD0-BE4F-5EFFE283BAE3}" type="datetime3">
              <a:rPr lang="en-US" smtClean="0"/>
              <a:t>31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4032-A8A3-411C-BC26-E7B91F45A0E3}" type="datetime3">
              <a:rPr lang="en-US" smtClean="0"/>
              <a:t>31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B809-7932-4158-8920-539AF76055B3}" type="datetime3">
              <a:rPr lang="en-US" smtClean="0"/>
              <a:t>31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788B0-F8C1-4F3E-9038-E4928A5C3E8E}" type="datetime3">
              <a:rPr lang="en-US" smtClean="0"/>
              <a:t>31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9F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E0ADA-A284-4FC1-AA8E-7242893F7BB8}" type="datetime3">
              <a:rPr lang="en-US" smtClean="0"/>
              <a:t>31 May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WREC’25 | Dr B R Ambedkar National Institute of Technology, Jalandhar, Punjab, India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936CA-2281-4A1D-8A42-3BD014E5005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19C171C2-A5F4-4B02-89CA-7913A5038840}" type="datetime3">
              <a:rPr lang="en-US" smtClean="0"/>
              <a:t>31 May 2026</a:t>
            </a:fld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r>
              <a:rPr lang="en-US"/>
              <a:t>WREC’25 | Dr B R Ambedkar National Institute of Technology, Jalandhar, Punjab, India </a:t>
            </a:r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433" y="128907"/>
            <a:ext cx="9144000" cy="2858133"/>
          </a:xfrm>
        </p:spPr>
        <p:txBody>
          <a:bodyPr>
            <a:normAutofit fontScale="90000"/>
          </a:bodyPr>
          <a:lstStyle/>
          <a:p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3100" b="1" spc="-10" dirty="0">
                <a:solidFill>
                  <a:srgbClr val="0E28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Fourth</a:t>
            </a:r>
            <a:r>
              <a:rPr lang="en-US" sz="24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1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Conference </a:t>
            </a:r>
            <a:br>
              <a:rPr lang="en-US" sz="31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31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b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</a:t>
            </a:r>
            <a:r>
              <a:rPr lang="en-IN" sz="1800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IEEE Delhi Section as Technical Sponsor</a:t>
            </a:r>
            <a:r>
              <a:rPr lang="en-IN" sz="1800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2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Secure Cyber Computing and Communications</a:t>
            </a:r>
            <a:br>
              <a:rPr lang="en-US" sz="22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800" b="1" spc="-10" dirty="0">
                <a:solidFill>
                  <a:srgbClr val="1D41D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GB" sz="1800" b="1" spc="-10" dirty="0">
                <a:solidFill>
                  <a:srgbClr val="1D41D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Future-ready Cyber Security: Trust, Intelligence, and Resilience in a </a:t>
            </a:r>
            <a:r>
              <a:rPr lang="en-GB" sz="1800" b="1" spc="-10" dirty="0" err="1">
                <a:solidFill>
                  <a:srgbClr val="1D41D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Hyperconnected</a:t>
            </a:r>
            <a:r>
              <a:rPr lang="en-GB" sz="1800" b="1" spc="-10" dirty="0">
                <a:solidFill>
                  <a:srgbClr val="1D41D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World</a:t>
            </a:r>
            <a:r>
              <a:rPr lang="en-US" sz="1800" b="1" spc="-10" dirty="0">
                <a:solidFill>
                  <a:srgbClr val="1D41D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br>
              <a:rPr lang="en-US" sz="1800" b="1" spc="-10" dirty="0">
                <a:solidFill>
                  <a:srgbClr val="1D41D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[IEEE Conference Record No. #69031]</a:t>
            </a:r>
            <a:br>
              <a:rPr lang="en-IN" sz="13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MAY </a:t>
            </a:r>
            <a:r>
              <a:rPr lang="en-US" sz="2200" b="1" spc="-10" dirty="0">
                <a:solidFill>
                  <a:srgbClr val="0E284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29-31</a:t>
            </a:r>
            <a:r>
              <a:rPr lang="en-US" sz="2200" b="1" spc="-1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2026</a:t>
            </a:r>
            <a:b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400" dirty="0"/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3095"/>
            <a:ext cx="9144000" cy="14306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67" y="233468"/>
            <a:ext cx="1058044" cy="10181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412" y="233468"/>
            <a:ext cx="1426588" cy="7242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7655" y="2463165"/>
            <a:ext cx="8729345" cy="1129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Synchronicity Aware Multimodal Deepfake Detection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via Cross-Modal Attention and Bi-Directional Temporal Modeling</a:t>
            </a:r>
          </a:p>
          <a:p>
            <a:pPr algn="ctr"/>
            <a:endParaRPr lang="en-US" sz="1600" b="1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[Paper ID – 202,  Session – 17]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971" y="3912298"/>
            <a:ext cx="8038924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Paras Garg</a:t>
            </a:r>
            <a:endParaRPr 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rgbClr val="595959"/>
                </a:solidFill>
              </a:rPr>
              <a:t>Department of Computer Engineering</a:t>
            </a:r>
          </a:p>
          <a:p>
            <a:pPr algn="ctr"/>
            <a:r>
              <a:rPr lang="en-US" sz="1400" dirty="0">
                <a:solidFill>
                  <a:srgbClr val="595959"/>
                </a:solidFill>
              </a:rPr>
              <a:t>National Institute of Technology, Kurukshetra, Haryana-136119, 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</a:t>
            </a:r>
            <a:r>
              <a:rPr lang="en-I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2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US" dirty="0"/>
              <a:t>TABLE OF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0E2A6-E88D-69C9-37F9-CF3F0A533731}"/>
              </a:ext>
            </a:extLst>
          </p:cNvPr>
          <p:cNvSpPr txBox="1"/>
          <p:nvPr/>
        </p:nvSpPr>
        <p:spPr>
          <a:xfrm>
            <a:off x="1147233" y="1414161"/>
            <a:ext cx="6723138" cy="439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</a:rPr>
              <a:t>01</a:t>
            </a:r>
            <a:r>
              <a:rPr lang="en-US" dirty="0">
                <a:solidFill>
                  <a:srgbClr val="222222"/>
                </a:solidFill>
              </a:rPr>
              <a:t>   Introduction &amp; Motivation</a:t>
            </a:r>
          </a:p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</a:rPr>
              <a:t>02</a:t>
            </a:r>
            <a:r>
              <a:rPr lang="en-US" dirty="0">
                <a:solidFill>
                  <a:srgbClr val="222222"/>
                </a:solidFill>
              </a:rPr>
              <a:t>   Problem Statement</a:t>
            </a:r>
          </a:p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</a:rPr>
              <a:t>03</a:t>
            </a:r>
            <a:r>
              <a:rPr lang="en-US" dirty="0">
                <a:solidFill>
                  <a:srgbClr val="222222"/>
                </a:solidFill>
              </a:rPr>
              <a:t>   Related Work</a:t>
            </a:r>
          </a:p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</a:rPr>
              <a:t>04</a:t>
            </a:r>
            <a:r>
              <a:rPr lang="en-US" dirty="0">
                <a:solidFill>
                  <a:srgbClr val="222222"/>
                </a:solidFill>
              </a:rPr>
              <a:t>   Dataset &amp; Preprocessing</a:t>
            </a:r>
          </a:p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</a:rPr>
              <a:t>05</a:t>
            </a:r>
            <a:r>
              <a:rPr lang="en-US" dirty="0">
                <a:solidFill>
                  <a:srgbClr val="222222"/>
                </a:solidFill>
              </a:rPr>
              <a:t>   Proposed Architecture Overview</a:t>
            </a:r>
          </a:p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</a:rPr>
              <a:t>06</a:t>
            </a:r>
            <a:r>
              <a:rPr lang="en-US" dirty="0">
                <a:solidFill>
                  <a:srgbClr val="222222"/>
                </a:solidFill>
              </a:rPr>
              <a:t>   Video &amp; Audio Stream Architecture</a:t>
            </a:r>
          </a:p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</a:rPr>
              <a:t>07</a:t>
            </a:r>
            <a:r>
              <a:rPr lang="en-US" dirty="0">
                <a:solidFill>
                  <a:srgbClr val="222222"/>
                </a:solidFill>
              </a:rPr>
              <a:t>   Cross-Modal Attention Fusion</a:t>
            </a:r>
          </a:p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</a:rPr>
              <a:t>08</a:t>
            </a:r>
            <a:r>
              <a:rPr lang="en-US" dirty="0">
                <a:solidFill>
                  <a:srgbClr val="222222"/>
                </a:solidFill>
              </a:rPr>
              <a:t>   Experimental Results</a:t>
            </a:r>
          </a:p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</a:rPr>
              <a:t>09</a:t>
            </a:r>
            <a:r>
              <a:rPr lang="en-US" dirty="0">
                <a:solidFill>
                  <a:srgbClr val="222222"/>
                </a:solidFill>
              </a:rPr>
              <a:t>   Comparative Analysis &amp; Ablation</a:t>
            </a:r>
          </a:p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</a:rPr>
              <a:t>10</a:t>
            </a:r>
            <a:r>
              <a:rPr lang="en-US" dirty="0">
                <a:solidFill>
                  <a:srgbClr val="222222"/>
                </a:solidFill>
              </a:rPr>
              <a:t>   Conclusion</a:t>
            </a:r>
          </a:p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C00000"/>
                </a:solidFill>
              </a:rPr>
              <a:t>11</a:t>
            </a:r>
            <a:r>
              <a:rPr lang="en-US" dirty="0">
                <a:solidFill>
                  <a:srgbClr val="222222"/>
                </a:solidFill>
              </a:rPr>
              <a:t>    References</a:t>
            </a:r>
          </a:p>
          <a:p>
            <a:pPr>
              <a:spcBef>
                <a:spcPts val="500"/>
              </a:spcBef>
            </a:pPr>
            <a:endParaRPr lang="en-US" dirty="0">
              <a:solidFill>
                <a:srgbClr val="222222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9130" y="1213606"/>
            <a:ext cx="7911465" cy="47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Rise of Synthetic Media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GANs and diffusion models produce hyper-realistic deepfakes manipulating face and voice.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Social consequences: political disinformation, financial fraud, identity theft, non-consensual media.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Limitations of Unimodal Detection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Visual detectors: spatial artifacts (blinking, lighting, interpolation noise)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Audio detectors: spectral anomalies and vocoder artifacts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Hybrid deepfakes (real video + synthetic voice) bypass both unimodal detectors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Key Insight — Biological Synchronicity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In natural speech, facial articulation precedes acoustic emission by ~50 </a:t>
            </a:r>
            <a:r>
              <a:rPr lang="en-US" sz="1600" dirty="0" err="1">
                <a:solidFill>
                  <a:srgbClr val="222222"/>
                </a:solidFill>
              </a:rPr>
              <a:t>ms.</a:t>
            </a:r>
            <a:endParaRPr lang="en-US" sz="1600" dirty="0">
              <a:solidFill>
                <a:srgbClr val="222222"/>
              </a:solidFill>
            </a:endParaRP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Synthetic models (trained on independent audio/video objectives) fail to replicate real world deepfakes.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phoneme viseme temporal gap is the discriminative cue our model exploits.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2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ED1C2-8601-418C-3D73-4F50B027C357}"/>
              </a:ext>
            </a:extLst>
          </p:cNvPr>
          <p:cNvSpPr txBox="1"/>
          <p:nvPr/>
        </p:nvSpPr>
        <p:spPr>
          <a:xfrm>
            <a:off x="793749" y="466141"/>
            <a:ext cx="65747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25000"/>
                  </a:schemeClr>
                </a:solidFill>
              </a:rPr>
              <a:t>INTRODUCTION &amp; MOTIVATION</a:t>
            </a:r>
          </a:p>
          <a:p>
            <a:pPr algn="ctr"/>
            <a:endParaRPr lang="en-US" sz="2800" dirty="0">
              <a:solidFill>
                <a:schemeClr val="accent5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1D01E-7BA5-49B0-B86D-556669DB4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6777E6F-A1F1-5D5C-90D1-DF59CAA882E9}"/>
              </a:ext>
            </a:extLst>
          </p:cNvPr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31A37-6DE4-0E97-D98D-31FA50B6FD51}"/>
              </a:ext>
            </a:extLst>
          </p:cNvPr>
          <p:cNvSpPr txBox="1"/>
          <p:nvPr/>
        </p:nvSpPr>
        <p:spPr>
          <a:xfrm>
            <a:off x="659130" y="1213606"/>
            <a:ext cx="7911465" cy="47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b="1" dirty="0">
                <a:solidFill>
                  <a:srgbClr val="0E2841"/>
                </a:solidFill>
              </a:rPr>
              <a:t>What Are Multimodal Deepfakes?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</a:rPr>
              <a:t>Videos where audio, video, or both modalities are synthetically generated or swapped.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</a:rPr>
              <a:t>Four categories: Real-Real | Real-Fake | Fake-Real | Fake-Fake</a:t>
            </a:r>
          </a:p>
          <a:p>
            <a:endParaRPr lang="en-US" dirty="0">
              <a:solidFill>
                <a:srgbClr val="222222"/>
              </a:solidFill>
            </a:endParaRPr>
          </a:p>
          <a:p>
            <a:pPr>
              <a:spcBef>
                <a:spcPts val="800"/>
              </a:spcBef>
            </a:pPr>
            <a:r>
              <a:rPr lang="en-US" b="1" dirty="0">
                <a:solidFill>
                  <a:srgbClr val="0E2841"/>
                </a:solidFill>
              </a:rPr>
              <a:t>Why Unimodal Detectors Fail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</a:rPr>
              <a:t>High-quality synthesis suppresses low-level spatial/spectral artifacts.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</a:rPr>
              <a:t>No cross-modal reasoning → vulnerable to cross-modal inconsistencies.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</a:rPr>
              <a:t>Performance degrades significantly under lossy compression.</a:t>
            </a:r>
          </a:p>
          <a:p>
            <a:pPr>
              <a:spcBef>
                <a:spcPts val="800"/>
              </a:spcBef>
            </a:pPr>
            <a:r>
              <a:rPr lang="en-US" b="1" dirty="0">
                <a:solidFill>
                  <a:srgbClr val="0E2841"/>
                </a:solidFill>
              </a:rPr>
              <a:t>Research Objectives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</a:rPr>
              <a:t>Explicitly model audio-visual biological synchronicity for detection.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</a:rPr>
              <a:t>Handle diverse manipulation types: face-swap, TTS, voice cloning, lip-sync.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222"/>
                </a:solidFill>
              </a:rPr>
              <a:t>Ensure demographic fairness (race, gender) and robustness to compression.</a:t>
            </a:r>
          </a:p>
          <a:p>
            <a:pPr>
              <a:spcBef>
                <a:spcPts val="300"/>
              </a:spcBef>
            </a:pPr>
            <a:endParaRPr lang="en-US" dirty="0">
              <a:solidFill>
                <a:srgbClr val="22222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FEADF-9008-6BD7-8C0D-F63A8C9FBA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8F1EA9-4E28-A0AE-0E9D-483C4A3AE2F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68D5C61A-1E6C-99A8-914D-955E15ACDFCF}"/>
              </a:ext>
            </a:extLst>
          </p:cNvPr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29F209A9-3118-17D0-A39A-70D24405C1B1}"/>
              </a:ext>
            </a:extLst>
          </p:cNvPr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2" name="Date Placeholder 9">
            <a:extLst>
              <a:ext uri="{FF2B5EF4-FFF2-40B4-BE49-F238E27FC236}">
                <a16:creationId xmlns:a16="http://schemas.microsoft.com/office/drawing/2014/main" id="{8878015B-9A86-A278-FD10-9701F92C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12A17-C42B-2530-A7D6-74B0E21193A4}"/>
              </a:ext>
            </a:extLst>
          </p:cNvPr>
          <p:cNvSpPr txBox="1"/>
          <p:nvPr/>
        </p:nvSpPr>
        <p:spPr>
          <a:xfrm>
            <a:off x="793749" y="466141"/>
            <a:ext cx="6574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E2841"/>
                </a:solidFill>
              </a:rPr>
              <a:t>PROBLEM STATEMENT</a:t>
            </a:r>
          </a:p>
          <a:p>
            <a:pPr algn="ctr"/>
            <a:endParaRPr lang="en-US" sz="2800" b="1" dirty="0">
              <a:solidFill>
                <a:schemeClr val="accent5">
                  <a:lumMod val="25000"/>
                </a:schemeClr>
              </a:solidFill>
            </a:endParaRPr>
          </a:p>
          <a:p>
            <a:pPr algn="ctr"/>
            <a:endParaRPr lang="en-US" sz="2800" dirty="0">
              <a:solidFill>
                <a:schemeClr val="accent5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0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F3E4F-84B6-EBD7-5BF4-ABD0482AA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4ED219-70B6-3DC5-DB3C-29241C440C51}"/>
              </a:ext>
            </a:extLst>
          </p:cNvPr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9D423-CF5A-E07D-F5D9-EE3EC3BFC2DA}"/>
              </a:ext>
            </a:extLst>
          </p:cNvPr>
          <p:cNvSpPr txBox="1"/>
          <p:nvPr/>
        </p:nvSpPr>
        <p:spPr>
          <a:xfrm>
            <a:off x="659130" y="1119505"/>
            <a:ext cx="7911465" cy="47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Unimodal Detection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</a:t>
            </a:r>
            <a:r>
              <a:rPr lang="en-US" sz="1600" dirty="0" err="1">
                <a:solidFill>
                  <a:srgbClr val="222222"/>
                </a:solidFill>
              </a:rPr>
              <a:t>MesoNet</a:t>
            </a:r>
            <a:r>
              <a:rPr lang="en-US" sz="1600" dirty="0">
                <a:solidFill>
                  <a:srgbClr val="222222"/>
                </a:solidFill>
              </a:rPr>
              <a:t>, </a:t>
            </a:r>
            <a:r>
              <a:rPr lang="en-US" sz="1600" dirty="0" err="1">
                <a:solidFill>
                  <a:srgbClr val="222222"/>
                </a:solidFill>
              </a:rPr>
              <a:t>XceptionNet</a:t>
            </a:r>
            <a:r>
              <a:rPr lang="en-US" sz="1600" dirty="0">
                <a:solidFill>
                  <a:srgbClr val="222222"/>
                </a:solidFill>
              </a:rPr>
              <a:t>: visual spatial artifact detection  →  76–82% accuracy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Sabir et al. (2019): recurrent CNN for temporal motion anomaly detection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Audio detectors: spectral analysis, vocoder artifact identification</a:t>
            </a: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Multimodal &amp; </a:t>
            </a:r>
            <a:r>
              <a:rPr lang="en-US" sz="1600" b="1" dirty="0" err="1">
                <a:solidFill>
                  <a:srgbClr val="0E2841"/>
                </a:solidFill>
              </a:rPr>
              <a:t>Synchronisation</a:t>
            </a:r>
            <a:r>
              <a:rPr lang="en-US" sz="1600" b="1" dirty="0">
                <a:solidFill>
                  <a:srgbClr val="0E2841"/>
                </a:solidFill>
              </a:rPr>
              <a:t>-Based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</a:t>
            </a:r>
            <a:r>
              <a:rPr lang="en-US" sz="1600" dirty="0" err="1">
                <a:solidFill>
                  <a:srgbClr val="222222"/>
                </a:solidFill>
              </a:rPr>
              <a:t>AVoiD</a:t>
            </a:r>
            <a:r>
              <a:rPr lang="en-US" sz="1600" dirty="0">
                <a:solidFill>
                  <a:srgbClr val="222222"/>
                </a:solidFill>
              </a:rPr>
              <a:t>-DF (Yang et al., IEEE TIFS 2023): joint audio-visual learning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Lips Don't Lie (</a:t>
            </a:r>
            <a:r>
              <a:rPr lang="en-US" sz="1600" dirty="0" err="1">
                <a:solidFill>
                  <a:srgbClr val="222222"/>
                </a:solidFill>
              </a:rPr>
              <a:t>Haliassos</a:t>
            </a:r>
            <a:r>
              <a:rPr lang="en-US" sz="1600" dirty="0">
                <a:solidFill>
                  <a:srgbClr val="222222"/>
                </a:solidFill>
              </a:rPr>
              <a:t> et al., CVPR 2021): </a:t>
            </a:r>
            <a:r>
              <a:rPr lang="en-US" sz="1600" dirty="0" err="1">
                <a:solidFill>
                  <a:srgbClr val="222222"/>
                </a:solidFill>
              </a:rPr>
              <a:t>generalisable</a:t>
            </a:r>
            <a:r>
              <a:rPr lang="en-US" sz="1600" dirty="0">
                <a:solidFill>
                  <a:srgbClr val="222222"/>
                </a:solidFill>
              </a:rPr>
              <a:t> lip-based detection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</a:t>
            </a:r>
            <a:r>
              <a:rPr lang="en-US" sz="1600" dirty="0" err="1">
                <a:solidFill>
                  <a:srgbClr val="222222"/>
                </a:solidFill>
              </a:rPr>
              <a:t>AVTENet</a:t>
            </a:r>
            <a:r>
              <a:rPr lang="en-US" sz="1600" dirty="0">
                <a:solidFill>
                  <a:srgbClr val="222222"/>
                </a:solidFill>
              </a:rPr>
              <a:t> (Hashmi et al., IEEE TCDS 2025): human-cognition-inspired AV transformer</a:t>
            </a: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Cross-Modal Attention Approaches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</a:t>
            </a:r>
            <a:r>
              <a:rPr lang="en-US" sz="1600" dirty="0" err="1">
                <a:solidFill>
                  <a:srgbClr val="222222"/>
                </a:solidFill>
              </a:rPr>
              <a:t>Katamneni</a:t>
            </a:r>
            <a:r>
              <a:rPr lang="en-US" sz="1600" dirty="0">
                <a:solidFill>
                  <a:srgbClr val="222222"/>
                </a:solidFill>
              </a:rPr>
              <a:t> &amp; </a:t>
            </a:r>
            <a:r>
              <a:rPr lang="en-US" sz="1600" dirty="0" err="1">
                <a:solidFill>
                  <a:srgbClr val="222222"/>
                </a:solidFill>
              </a:rPr>
              <a:t>Rattani</a:t>
            </a:r>
            <a:r>
              <a:rPr lang="en-US" sz="1600" dirty="0">
                <a:solidFill>
                  <a:srgbClr val="222222"/>
                </a:solidFill>
              </a:rPr>
              <a:t> (IEEE IJCB 2024): contextual cross-modal attention for AV detection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CAMME (Khan et al., 2025): adaptive deepfake detection with multi-modal cross-attention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Gaps Addressed by This Work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Most prior work lacks explicit biological synchronicity modeling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Demographic fairness and compression robustness rarely evaluated jointly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29D6BA-A539-E039-C063-3035351636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AA94A4-645A-2351-4844-79D747E053E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A37FD1E6-739B-39AE-8DB4-99A96A26F796}"/>
              </a:ext>
            </a:extLst>
          </p:cNvPr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50335B3B-CA67-72EB-F5CF-4AFD1A45FD40}"/>
              </a:ext>
            </a:extLst>
          </p:cNvPr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2" name="Date Placeholder 9">
            <a:extLst>
              <a:ext uri="{FF2B5EF4-FFF2-40B4-BE49-F238E27FC236}">
                <a16:creationId xmlns:a16="http://schemas.microsoft.com/office/drawing/2014/main" id="{1A843B94-A8AA-E3B3-C91C-1808795A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4CDAE-D1DE-6017-195A-F1F61471D573}"/>
              </a:ext>
            </a:extLst>
          </p:cNvPr>
          <p:cNvSpPr txBox="1"/>
          <p:nvPr/>
        </p:nvSpPr>
        <p:spPr>
          <a:xfrm>
            <a:off x="793749" y="466141"/>
            <a:ext cx="65747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E2841"/>
                </a:solidFill>
              </a:rPr>
              <a:t>RELATED WORK</a:t>
            </a:r>
          </a:p>
          <a:p>
            <a:pPr algn="ctr"/>
            <a:endParaRPr lang="en-US" sz="2800" b="1" dirty="0">
              <a:solidFill>
                <a:srgbClr val="0E2841"/>
              </a:solidFill>
            </a:endParaRPr>
          </a:p>
          <a:p>
            <a:pPr algn="ctr"/>
            <a:endParaRPr lang="en-US" sz="2800" b="1" dirty="0">
              <a:solidFill>
                <a:schemeClr val="accent5">
                  <a:lumMod val="25000"/>
                </a:schemeClr>
              </a:solidFill>
            </a:endParaRPr>
          </a:p>
          <a:p>
            <a:pPr algn="ctr"/>
            <a:endParaRPr lang="en-US" sz="2800" dirty="0">
              <a:solidFill>
                <a:schemeClr val="accent5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47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31581-59EC-538B-C376-D2B66D86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2A6FFFD-0DF0-ABD4-B6D9-D7A5E84DB089}"/>
              </a:ext>
            </a:extLst>
          </p:cNvPr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19DF9-7322-D9B9-6873-995D4007B7D6}"/>
              </a:ext>
            </a:extLst>
          </p:cNvPr>
          <p:cNvSpPr txBox="1"/>
          <p:nvPr/>
        </p:nvSpPr>
        <p:spPr>
          <a:xfrm>
            <a:off x="659130" y="1213606"/>
            <a:ext cx="7911465" cy="47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Dataset 1 — </a:t>
            </a:r>
            <a:r>
              <a:rPr lang="en-US" sz="1600" b="1" dirty="0" err="1">
                <a:solidFill>
                  <a:srgbClr val="0E2841"/>
                </a:solidFill>
              </a:rPr>
              <a:t>FakeAVCeleb</a:t>
            </a:r>
            <a:r>
              <a:rPr lang="en-US" sz="1600" b="1" dirty="0">
                <a:solidFill>
                  <a:srgbClr val="0E2841"/>
                </a:solidFill>
              </a:rPr>
              <a:t>  (Khalid et al., 2022)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500 subjects across diverse demographics: African, Asian, Caucasian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4 manipulation categories via </a:t>
            </a:r>
            <a:r>
              <a:rPr lang="en-US" sz="1600" dirty="0" err="1">
                <a:solidFill>
                  <a:srgbClr val="222222"/>
                </a:solidFill>
              </a:rPr>
              <a:t>Faceswap</a:t>
            </a:r>
            <a:r>
              <a:rPr lang="en-US" sz="1600" dirty="0">
                <a:solidFill>
                  <a:srgbClr val="222222"/>
                </a:solidFill>
              </a:rPr>
              <a:t>, SV2TTS, Wav2Lip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Dataset 2 — AV-Deepfake1M++  (Cai et al., 2025)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High-quality TTS and voice conversion attacks with modern generation pipelines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Representative stratified sample for computational feasibility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Combined Dataset:  28,461 videos  |  Test set: 4,270 videos</a:t>
            </a:r>
          </a:p>
          <a:p>
            <a:endParaRPr lang="en-US" sz="1600" b="1" dirty="0">
              <a:solidFill>
                <a:srgbClr val="0E2841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Preprocessing Pipeline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Video:   16 frames extracted, resized to 224×224, </a:t>
            </a:r>
            <a:r>
              <a:rPr lang="en-US" sz="1600" dirty="0" err="1">
                <a:solidFill>
                  <a:srgbClr val="222222"/>
                </a:solidFill>
              </a:rPr>
              <a:t>normalised</a:t>
            </a:r>
            <a:r>
              <a:rPr lang="en-US" sz="1600" dirty="0">
                <a:solidFill>
                  <a:srgbClr val="222222"/>
                </a:solidFill>
              </a:rPr>
              <a:t> to [0, 1]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Audio:   16 kHz resample → 3 s clip → Mel spectrogram (128×94) via STFT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Visual augment:  random flip, ±10° rotation, </a:t>
            </a:r>
            <a:r>
              <a:rPr lang="en-US" sz="1600" dirty="0" err="1">
                <a:solidFill>
                  <a:srgbClr val="222222"/>
                </a:solidFill>
              </a:rPr>
              <a:t>colour</a:t>
            </a:r>
            <a:r>
              <a:rPr lang="en-US" sz="1600" dirty="0">
                <a:solidFill>
                  <a:srgbClr val="222222"/>
                </a:solidFill>
              </a:rPr>
              <a:t> jitter, Gaussian blur, random erasing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Audio augment:   time stretch (0.8–1.2×), pitch shift (±2 steps), </a:t>
            </a:r>
            <a:r>
              <a:rPr lang="en-US" sz="1600" dirty="0" err="1">
                <a:solidFill>
                  <a:srgbClr val="222222"/>
                </a:solidFill>
              </a:rPr>
              <a:t>SpecAugment</a:t>
            </a:r>
            <a:r>
              <a:rPr lang="en-US" sz="1600" dirty="0">
                <a:solidFill>
                  <a:srgbClr val="222222"/>
                </a:solidFill>
              </a:rPr>
              <a:t>, BG noise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BE606B-254B-155E-AE61-95F8FCE591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3DAB6F-687F-BB8E-5DD6-B231A259F15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91F35DAF-C888-4B4A-2308-F7E3431F9E73}"/>
              </a:ext>
            </a:extLst>
          </p:cNvPr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418E0FAB-7DE8-4564-E770-F9157334542C}"/>
              </a:ext>
            </a:extLst>
          </p:cNvPr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2" name="Date Placeholder 9">
            <a:extLst>
              <a:ext uri="{FF2B5EF4-FFF2-40B4-BE49-F238E27FC236}">
                <a16:creationId xmlns:a16="http://schemas.microsoft.com/office/drawing/2014/main" id="{0E90339E-2597-2172-38A6-DEA97E59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82000-DF81-925E-F3B2-A421E9B7B3D2}"/>
              </a:ext>
            </a:extLst>
          </p:cNvPr>
          <p:cNvSpPr txBox="1"/>
          <p:nvPr/>
        </p:nvSpPr>
        <p:spPr>
          <a:xfrm>
            <a:off x="1217839" y="320147"/>
            <a:ext cx="6574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E2841"/>
                </a:solidFill>
              </a:rPr>
              <a:t>DATASET &amp; PREPROCESSING</a:t>
            </a:r>
          </a:p>
          <a:p>
            <a:pPr algn="ctr"/>
            <a:endParaRPr lang="en-US" sz="2800" b="1" dirty="0">
              <a:solidFill>
                <a:schemeClr val="accent5">
                  <a:lumMod val="25000"/>
                </a:schemeClr>
              </a:solidFill>
            </a:endParaRPr>
          </a:p>
          <a:p>
            <a:pPr algn="ctr"/>
            <a:endParaRPr lang="en-US" sz="2800" dirty="0">
              <a:solidFill>
                <a:schemeClr val="accent5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694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0E1B19-028B-95C5-B16D-69041795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65A244-1221-C7DD-232F-1E9AC7DD0798}"/>
              </a:ext>
            </a:extLst>
          </p:cNvPr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FC5661-398C-5539-E76E-DA8E6023B68D}"/>
              </a:ext>
            </a:extLst>
          </p:cNvPr>
          <p:cNvSpPr txBox="1"/>
          <p:nvPr/>
        </p:nvSpPr>
        <p:spPr>
          <a:xfrm>
            <a:off x="254524" y="1361966"/>
            <a:ext cx="5835191" cy="4921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Video Stream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Backbone:  ResNet50 (pretrained, ImageNet)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Frame features:  2048-D embedding per frame  (16 frames per video)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Temporal modeling:  2-layer Bi-GRU, hidden size 512  →  1024-D output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Captures:  unnatural blinking, head motion anomalies, frame discontinuities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Audio Stream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Input:  Mel spectrogram  (128 × 94)  from STFT (FFT=2048, hop=512, bins=128)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Feature extractor:  4-layer custom CNN  (64 → 128 → 256 → 512 channels)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Temporal modeling:  2-layer Bi-GRU, hidden size 256  →  512-D output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Captures:  prosodic discontinuities, vocoder artifacts, rhythmic anomalies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D77D29-7390-C69E-F424-8696EB0D30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17F693-7A6B-B270-E1B8-E3D5D00E819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44CDFA78-1ED2-88A6-8491-50CB79CE08C4}"/>
              </a:ext>
            </a:extLst>
          </p:cNvPr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CDE17279-7930-2338-63FE-96E08FE2D092}"/>
              </a:ext>
            </a:extLst>
          </p:cNvPr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2" name="Date Placeholder 9">
            <a:extLst>
              <a:ext uri="{FF2B5EF4-FFF2-40B4-BE49-F238E27FC236}">
                <a16:creationId xmlns:a16="http://schemas.microsoft.com/office/drawing/2014/main" id="{19DEEEBF-F862-612C-E4EC-EA4C2D4D69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690F2-C4BA-109D-3921-4B67C32B0C7F}"/>
              </a:ext>
            </a:extLst>
          </p:cNvPr>
          <p:cNvSpPr txBox="1"/>
          <p:nvPr/>
        </p:nvSpPr>
        <p:spPr>
          <a:xfrm>
            <a:off x="1236662" y="367781"/>
            <a:ext cx="66706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E2841"/>
                </a:solidFill>
              </a:rPr>
              <a:t>VIDEO &amp; AUDIO STREAM ARCHITECTURE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BBEDBA-72EF-7E4B-3F68-D1070166B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014" y="1091838"/>
            <a:ext cx="3113751" cy="500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50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C8565-61E4-E914-ECB3-7C58612C0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4FF090-BED4-F8C0-6DA6-8DBE01F12E2C}"/>
              </a:ext>
            </a:extLst>
          </p:cNvPr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9E0E8-3765-339F-283E-71891B76D2E4}"/>
              </a:ext>
            </a:extLst>
          </p:cNvPr>
          <p:cNvSpPr txBox="1"/>
          <p:nvPr/>
        </p:nvSpPr>
        <p:spPr>
          <a:xfrm>
            <a:off x="659130" y="1361966"/>
            <a:ext cx="7911465" cy="47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Multi-Head Attention Mechanism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Video (2048-D)  +  Audio (512-D)  →  concatenated  (2560-D)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8-head Multi-Head Attention applied over the combined representation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Each head learns a distinct aspect of audio-visual temporal correlation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Dynamically weights modality cues based on cross-modal disagreement level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Why Attention Over Naïve Concatenation?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595959"/>
                </a:solidFill>
              </a:rPr>
              <a:t>  Naïve concatenation: </a:t>
            </a:r>
            <a:r>
              <a:rPr lang="en-US" sz="1600" dirty="0">
                <a:solidFill>
                  <a:srgbClr val="595959"/>
                </a:solidFill>
              </a:rPr>
              <a:t>84.1%   →   </a:t>
            </a:r>
            <a:r>
              <a:rPr lang="en-US" sz="1600" b="1" dirty="0">
                <a:solidFill>
                  <a:srgbClr val="0E2841"/>
                </a:solidFill>
              </a:rPr>
              <a:t>Cross-modal attention: </a:t>
            </a:r>
            <a:r>
              <a:rPr lang="en-US" sz="1600" b="1" dirty="0">
                <a:solidFill>
                  <a:srgbClr val="C00000"/>
                </a:solidFill>
              </a:rPr>
              <a:t>92.5%   (+8.4%)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Attention focuses on temporal regions where phoneme–viseme are misaligned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Learns fine-grained inter-modal relationships, not just global feature statistics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Classification Head  (FFN)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1536-D → 512-D → 256-D → 4 classes   (</a:t>
            </a:r>
            <a:r>
              <a:rPr lang="en-US" sz="1600" dirty="0" err="1">
                <a:solidFill>
                  <a:srgbClr val="222222"/>
                </a:solidFill>
              </a:rPr>
              <a:t>ReLU</a:t>
            </a:r>
            <a:r>
              <a:rPr lang="en-US" sz="1600" dirty="0">
                <a:solidFill>
                  <a:srgbClr val="222222"/>
                </a:solidFill>
              </a:rPr>
              <a:t> + Dropout p=0.3)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Outputs logits for:  Real-Real  |  Real-Fake  |  Fake-Real  |  Fake-Fake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4EBA9E-BFF3-3A97-B5E8-6D94D7E83F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65BBBA-F4CC-F2C9-3776-74C6FD3AC7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39E2311F-919F-FEB4-ACB5-7DFA8DF3D90B}"/>
              </a:ext>
            </a:extLst>
          </p:cNvPr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9634F342-4ADD-12BA-7629-D1D16AD607E5}"/>
              </a:ext>
            </a:extLst>
          </p:cNvPr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2" name="Date Placeholder 9">
            <a:extLst>
              <a:ext uri="{FF2B5EF4-FFF2-40B4-BE49-F238E27FC236}">
                <a16:creationId xmlns:a16="http://schemas.microsoft.com/office/drawing/2014/main" id="{0F0BFB35-7418-622A-BB08-E174750CCF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81775-420A-1938-EC8D-5DC7A875A5F9}"/>
              </a:ext>
            </a:extLst>
          </p:cNvPr>
          <p:cNvSpPr txBox="1"/>
          <p:nvPr/>
        </p:nvSpPr>
        <p:spPr>
          <a:xfrm>
            <a:off x="1236663" y="367781"/>
            <a:ext cx="61318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E2841"/>
                </a:solidFill>
              </a:rPr>
              <a:t>CROSS-MODAL ATTENTION FUSION</a:t>
            </a:r>
          </a:p>
        </p:txBody>
      </p:sp>
    </p:spTree>
    <p:extLst>
      <p:ext uri="{BB962C8B-B14F-4D97-AF65-F5344CB8AC3E}">
        <p14:creationId xmlns:p14="http://schemas.microsoft.com/office/powerpoint/2010/main" val="169577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9A9A3-47FD-8EEF-0794-9B795A07D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78B40B-488F-97E1-8D72-A7EF6AC42D90}"/>
              </a:ext>
            </a:extLst>
          </p:cNvPr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F2838F-6B5F-EEF9-7511-E1EDDCA768E8}"/>
              </a:ext>
            </a:extLst>
          </p:cNvPr>
          <p:cNvSpPr txBox="1"/>
          <p:nvPr/>
        </p:nvSpPr>
        <p:spPr>
          <a:xfrm>
            <a:off x="659130" y="1361966"/>
            <a:ext cx="7911465" cy="47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Evaluation Setup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Test set:  4,270 videos  (stratified from </a:t>
            </a:r>
            <a:r>
              <a:rPr lang="en-US" sz="1600" dirty="0" err="1">
                <a:solidFill>
                  <a:srgbClr val="222222"/>
                </a:solidFill>
              </a:rPr>
              <a:t>FakeAVCeleb</a:t>
            </a:r>
            <a:r>
              <a:rPr lang="en-US" sz="1600" dirty="0">
                <a:solidFill>
                  <a:srgbClr val="222222"/>
                </a:solidFill>
              </a:rPr>
              <a:t> + AV-Deepfake1M++)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Metrics:  Accuracy, AUC-ROC, F1-Score (Macro), Precision, Recall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Quantitative Performance</a:t>
            </a:r>
          </a:p>
          <a:p>
            <a:r>
              <a:rPr lang="en-US" sz="1600" b="1" dirty="0">
                <a:solidFill>
                  <a:srgbClr val="0E2841"/>
                </a:solidFill>
              </a:rPr>
              <a:t>  Accuracy                                  </a:t>
            </a:r>
            <a:r>
              <a:rPr lang="en-US" sz="1600" dirty="0">
                <a:solidFill>
                  <a:srgbClr val="222222"/>
                </a:solidFill>
              </a:rPr>
              <a:t>92.5%</a:t>
            </a:r>
          </a:p>
          <a:p>
            <a:r>
              <a:rPr lang="en-US" sz="1600" b="1" dirty="0">
                <a:solidFill>
                  <a:srgbClr val="0E2841"/>
                </a:solidFill>
              </a:rPr>
              <a:t>  AUC-ROC                                 </a:t>
            </a:r>
            <a:r>
              <a:rPr lang="en-US" sz="1600" dirty="0">
                <a:solidFill>
                  <a:srgbClr val="222222"/>
                </a:solidFill>
              </a:rPr>
              <a:t>0.940</a:t>
            </a:r>
          </a:p>
          <a:p>
            <a:r>
              <a:rPr lang="en-US" sz="1600" b="1" dirty="0">
                <a:solidFill>
                  <a:srgbClr val="0E2841"/>
                </a:solidFill>
              </a:rPr>
              <a:t>  F1-Score  (Macro)                    </a:t>
            </a:r>
            <a:r>
              <a:rPr lang="en-US" sz="1600" dirty="0">
                <a:solidFill>
                  <a:srgbClr val="222222"/>
                </a:solidFill>
              </a:rPr>
              <a:t>0.900</a:t>
            </a:r>
          </a:p>
          <a:p>
            <a:r>
              <a:rPr lang="en-US" sz="1600" b="1" dirty="0">
                <a:solidFill>
                  <a:srgbClr val="0E2841"/>
                </a:solidFill>
              </a:rPr>
              <a:t>  Precision  (Fully Fake)            </a:t>
            </a:r>
            <a:r>
              <a:rPr lang="en-US" sz="1600" dirty="0">
                <a:solidFill>
                  <a:srgbClr val="222222"/>
                </a:solidFill>
              </a:rPr>
              <a:t>0.910</a:t>
            </a:r>
          </a:p>
          <a:p>
            <a:r>
              <a:rPr lang="en-US" sz="1600" b="1" dirty="0">
                <a:solidFill>
                  <a:srgbClr val="0E2841"/>
                </a:solidFill>
              </a:rPr>
              <a:t>  Recall  (Fully Fake)                  </a:t>
            </a:r>
            <a:r>
              <a:rPr lang="en-US" sz="1600" dirty="0">
                <a:solidFill>
                  <a:srgbClr val="222222"/>
                </a:solidFill>
              </a:rPr>
              <a:t>0.900</a:t>
            </a:r>
          </a:p>
          <a:p>
            <a:endParaRPr lang="en-US" sz="1600" dirty="0">
              <a:solidFill>
                <a:srgbClr val="22222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D437D3-0A3A-6DC5-FB5E-80DE2F5BEC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1DF8C2-39B9-BB7E-E7A6-E9925D50A00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D650A1F9-9A62-8A9B-0ED8-518BA1E4702F}"/>
              </a:ext>
            </a:extLst>
          </p:cNvPr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C84C6A0E-28C7-D162-710F-5922084B9586}"/>
              </a:ext>
            </a:extLst>
          </p:cNvPr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2" name="Date Placeholder 9">
            <a:extLst>
              <a:ext uri="{FF2B5EF4-FFF2-40B4-BE49-F238E27FC236}">
                <a16:creationId xmlns:a16="http://schemas.microsoft.com/office/drawing/2014/main" id="{311717A9-AEA1-DEA8-1808-258CD3DAEE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72FE2-7C5E-9055-DF1C-82AEBC26F54A}"/>
              </a:ext>
            </a:extLst>
          </p:cNvPr>
          <p:cNvSpPr txBox="1"/>
          <p:nvPr/>
        </p:nvSpPr>
        <p:spPr>
          <a:xfrm>
            <a:off x="1236662" y="367781"/>
            <a:ext cx="667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E2841"/>
                </a:solidFill>
              </a:rPr>
              <a:t>EXPERIMENTAL RESULTS</a:t>
            </a:r>
          </a:p>
        </p:txBody>
      </p:sp>
    </p:spTree>
    <p:extLst>
      <p:ext uri="{BB962C8B-B14F-4D97-AF65-F5344CB8AC3E}">
        <p14:creationId xmlns:p14="http://schemas.microsoft.com/office/powerpoint/2010/main" val="1233406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6D9BB-3AF1-097C-B00A-C12DB167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0F620D-210A-40FE-52E6-D0EA057B9746}"/>
              </a:ext>
            </a:extLst>
          </p:cNvPr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73F58-6408-AF47-4BF0-CF22D2F2CD0C}"/>
              </a:ext>
            </a:extLst>
          </p:cNvPr>
          <p:cNvSpPr txBox="1"/>
          <p:nvPr/>
        </p:nvSpPr>
        <p:spPr>
          <a:xfrm>
            <a:off x="659130" y="1361966"/>
            <a:ext cx="7911465" cy="47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Comparison with State-of-the-Art Models</a:t>
            </a:r>
          </a:p>
          <a:p>
            <a:pPr>
              <a:spcBef>
                <a:spcPts val="400"/>
              </a:spcBef>
            </a:pPr>
            <a:r>
              <a:rPr lang="en-US" sz="1600" b="1" dirty="0">
                <a:solidFill>
                  <a:srgbClr val="0E2841"/>
                </a:solidFill>
              </a:rPr>
              <a:t>  Model                                            Acc.                   Modality</a:t>
            </a:r>
          </a:p>
          <a:p>
            <a:r>
              <a:rPr lang="en-US" sz="1600" b="1" dirty="0">
                <a:solidFill>
                  <a:srgbClr val="C00000"/>
                </a:solidFill>
              </a:rPr>
              <a:t>  Proposed Model (ours)                92.5%             Video + Audio</a:t>
            </a:r>
          </a:p>
          <a:p>
            <a:r>
              <a:rPr lang="en-US" sz="1600" dirty="0">
                <a:solidFill>
                  <a:srgbClr val="222222"/>
                </a:solidFill>
              </a:rPr>
              <a:t>  Simple Concatenation (ours)          84.1%             Video + Audio</a:t>
            </a:r>
          </a:p>
          <a:p>
            <a:r>
              <a:rPr lang="en-US" sz="1600" dirty="0">
                <a:solidFill>
                  <a:srgbClr val="222222"/>
                </a:solidFill>
              </a:rPr>
              <a:t>  </a:t>
            </a:r>
            <a:r>
              <a:rPr lang="en-US" sz="1600" dirty="0" err="1">
                <a:solidFill>
                  <a:srgbClr val="222222"/>
                </a:solidFill>
              </a:rPr>
              <a:t>XceptionNet</a:t>
            </a:r>
            <a:r>
              <a:rPr lang="en-US" sz="1600" dirty="0">
                <a:solidFill>
                  <a:srgbClr val="222222"/>
                </a:solidFill>
              </a:rPr>
              <a:t>                                    81.9%              Video Only</a:t>
            </a:r>
          </a:p>
          <a:p>
            <a:r>
              <a:rPr lang="en-US" sz="1600" dirty="0">
                <a:solidFill>
                  <a:srgbClr val="222222"/>
                </a:solidFill>
              </a:rPr>
              <a:t>  ResNet50  (Baseline)                      8.5%                Video Only</a:t>
            </a:r>
          </a:p>
          <a:p>
            <a:r>
              <a:rPr lang="en-US" sz="1600" dirty="0">
                <a:solidFill>
                  <a:srgbClr val="222222"/>
                </a:solidFill>
              </a:rPr>
              <a:t>  </a:t>
            </a:r>
            <a:r>
              <a:rPr lang="en-US" sz="1600" dirty="0" err="1">
                <a:solidFill>
                  <a:srgbClr val="222222"/>
                </a:solidFill>
              </a:rPr>
              <a:t>MesoNet</a:t>
            </a:r>
            <a:r>
              <a:rPr lang="en-US" sz="1600" dirty="0">
                <a:solidFill>
                  <a:srgbClr val="222222"/>
                </a:solidFill>
              </a:rPr>
              <a:t>                                          76.2%              Video Only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800"/>
              </a:spcBef>
            </a:pPr>
            <a:endParaRPr lang="en-US" sz="1600" b="1" dirty="0">
              <a:solidFill>
                <a:srgbClr val="0E2841"/>
              </a:solidFill>
            </a:endParaRPr>
          </a:p>
          <a:p>
            <a:pPr>
              <a:spcBef>
                <a:spcPts val="800"/>
              </a:spcBef>
            </a:pPr>
            <a:r>
              <a:rPr lang="en-US" sz="1600" b="1" dirty="0">
                <a:solidFill>
                  <a:srgbClr val="0E2841"/>
                </a:solidFill>
              </a:rPr>
              <a:t>Key Ablation Findings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Attention vs. concatenation:  +8.4% accuracy  →  cross-modal reasoning is critical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Multimodal vs. best unimodal:  +10.2% accuracy  →  complementary modality cues</a:t>
            </a:r>
          </a:p>
          <a:p>
            <a:endParaRPr lang="en-US" sz="1600" dirty="0">
              <a:solidFill>
                <a:srgbClr val="22222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81FB6C-2A70-BE8D-8D31-3E03A57B64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1032FF-C451-E708-EDBF-55F8E605154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9478978E-B685-E44D-EBBD-5624C4D90FC1}"/>
              </a:ext>
            </a:extLst>
          </p:cNvPr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37875369-7F49-E98C-EF7A-61C1F8E36B39}"/>
              </a:ext>
            </a:extLst>
          </p:cNvPr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2" name="Date Placeholder 9">
            <a:extLst>
              <a:ext uri="{FF2B5EF4-FFF2-40B4-BE49-F238E27FC236}">
                <a16:creationId xmlns:a16="http://schemas.microsoft.com/office/drawing/2014/main" id="{4C2ABBA3-F13A-6DD7-C130-940448D9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3E266-553C-3C62-FDFA-E1013E773264}"/>
              </a:ext>
            </a:extLst>
          </p:cNvPr>
          <p:cNvSpPr txBox="1"/>
          <p:nvPr/>
        </p:nvSpPr>
        <p:spPr>
          <a:xfrm>
            <a:off x="1236662" y="367781"/>
            <a:ext cx="66706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E2841"/>
                </a:solidFill>
              </a:rPr>
              <a:t>COMPARATIVE ANALYSIS &amp; ABLATION</a:t>
            </a:r>
          </a:p>
        </p:txBody>
      </p:sp>
    </p:spTree>
    <p:extLst>
      <p:ext uri="{BB962C8B-B14F-4D97-AF65-F5344CB8AC3E}">
        <p14:creationId xmlns:p14="http://schemas.microsoft.com/office/powerpoint/2010/main" val="282573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US" dirty="0"/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3750" y="1119505"/>
            <a:ext cx="7911465" cy="512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en-IN" sz="1400" dirty="0">
              <a:solidFill>
                <a:srgbClr val="7030A0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7" name="TextBox 8"/>
          <p:cNvSpPr txBox="1"/>
          <p:nvPr/>
        </p:nvSpPr>
        <p:spPr>
          <a:xfrm>
            <a:off x="793749" y="1035034"/>
            <a:ext cx="7911465" cy="1136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400"/>
              </a:spcBef>
            </a:pPr>
            <a:r>
              <a:rPr lang="en-US" sz="1600" b="1" dirty="0">
                <a:solidFill>
                  <a:srgbClr val="0E2841"/>
                </a:solidFill>
              </a:rPr>
              <a:t>1.  Novel Synchronicity-Aware Framework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Dual-stream architecture (ResNet50-BiGRU + CNN-</a:t>
            </a:r>
            <a:r>
              <a:rPr lang="en-US" sz="1600" dirty="0" err="1">
                <a:solidFill>
                  <a:srgbClr val="222222"/>
                </a:solidFill>
              </a:rPr>
              <a:t>BiGRU</a:t>
            </a:r>
            <a:r>
              <a:rPr lang="en-US" sz="1600" dirty="0">
                <a:solidFill>
                  <a:srgbClr val="222222"/>
                </a:solidFill>
              </a:rPr>
              <a:t>) with 8-head cross-modal attention explicitly captures audio-visual biological synchronicity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1600" b="1" dirty="0">
                <a:solidFill>
                  <a:srgbClr val="0E2841"/>
                </a:solidFill>
              </a:rPr>
              <a:t>2.  Superior Detection Performance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92.5% accuracy and AUC-ROC 0.94 on 28,461-video composite dataset (</a:t>
            </a:r>
            <a:r>
              <a:rPr lang="en-US" sz="1600" dirty="0" err="1">
                <a:solidFill>
                  <a:srgbClr val="222222"/>
                </a:solidFill>
              </a:rPr>
              <a:t>FakeAVCeleb</a:t>
            </a:r>
            <a:r>
              <a:rPr lang="en-US" sz="1600" dirty="0">
                <a:solidFill>
                  <a:srgbClr val="222222"/>
                </a:solidFill>
              </a:rPr>
              <a:t> + AV-Deepfake1M++)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1600" b="1" dirty="0">
                <a:solidFill>
                  <a:srgbClr val="0E2841"/>
                </a:solidFill>
              </a:rPr>
              <a:t>3.  Cross-Modal Attention is the Key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+8.4% gain over naïve fusion; attention focuses on phoneme–viseme temporal misalignments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1600" b="1" dirty="0">
                <a:solidFill>
                  <a:srgbClr val="0E2841"/>
                </a:solidFill>
              </a:rPr>
              <a:t>4.  Demographically Fair &amp; Compression-Robust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&lt; 2% performance variance across race and gender; robustness to H.264 evaluated</a:t>
            </a:r>
          </a:p>
          <a:p>
            <a:endParaRPr lang="en-US" sz="1600" dirty="0">
              <a:solidFill>
                <a:srgbClr val="222222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1600" b="1" dirty="0">
                <a:solidFill>
                  <a:srgbClr val="0E2841"/>
                </a:solidFill>
              </a:rPr>
              <a:t>5.  Future Directions</a:t>
            </a:r>
          </a:p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  •  Transformer-based temporal modeling  |  Frequency-sensitive representations  |  Fairness-aware training</a:t>
            </a:r>
          </a:p>
        </p:txBody>
      </p:sp>
      <p:sp>
        <p:nvSpPr>
          <p:cNvPr id="12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5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0414" y="399431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US" dirty="0"/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7" name="TextBox 8"/>
          <p:cNvSpPr txBox="1"/>
          <p:nvPr/>
        </p:nvSpPr>
        <p:spPr>
          <a:xfrm>
            <a:off x="616267" y="1245902"/>
            <a:ext cx="7911465" cy="1136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300"/>
              </a:spcBef>
            </a:pPr>
            <a:r>
              <a:rPr lang="en-US" sz="1600" dirty="0">
                <a:solidFill>
                  <a:srgbClr val="222222"/>
                </a:solidFill>
              </a:rPr>
              <a:t>[1]  Z. Cai et al., "AV-Deepfake1M++: A Large-Scale Audio-Visual Deepfake Benchmark with Real-World Perturbations," arXiv:2507.20579, 2025.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222222"/>
                </a:solidFill>
              </a:rPr>
              <a:t>[2]  H. Khalid et al., "</a:t>
            </a:r>
            <a:r>
              <a:rPr lang="en-US" sz="1600" dirty="0" err="1">
                <a:solidFill>
                  <a:srgbClr val="222222"/>
                </a:solidFill>
              </a:rPr>
              <a:t>FakeAVCeleb</a:t>
            </a:r>
            <a:r>
              <a:rPr lang="en-US" sz="1600" dirty="0">
                <a:solidFill>
                  <a:srgbClr val="222222"/>
                </a:solidFill>
              </a:rPr>
              <a:t>: A Novel Audio-Video Multimodal Deepfake Dataset," arXiv:2108.05080, 2022.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222222"/>
                </a:solidFill>
              </a:rPr>
              <a:t>[3]  W. Yang et al., "</a:t>
            </a:r>
            <a:r>
              <a:rPr lang="en-US" sz="1600" dirty="0" err="1">
                <a:solidFill>
                  <a:srgbClr val="222222"/>
                </a:solidFill>
              </a:rPr>
              <a:t>AVoiD</a:t>
            </a:r>
            <a:r>
              <a:rPr lang="en-US" sz="1600" dirty="0">
                <a:solidFill>
                  <a:srgbClr val="222222"/>
                </a:solidFill>
              </a:rPr>
              <a:t>-DF: Audio-Visual Joint Learning for Detecting Deepfake," IEEE TIFS, vol. 18, pp. 2015-2029, 2023.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222222"/>
                </a:solidFill>
              </a:rPr>
              <a:t>[4]  V. S. </a:t>
            </a:r>
            <a:r>
              <a:rPr lang="en-US" sz="1600" dirty="0" err="1">
                <a:solidFill>
                  <a:srgbClr val="222222"/>
                </a:solidFill>
              </a:rPr>
              <a:t>Katamneni</a:t>
            </a:r>
            <a:r>
              <a:rPr lang="en-US" sz="1600" dirty="0">
                <a:solidFill>
                  <a:srgbClr val="222222"/>
                </a:solidFill>
              </a:rPr>
              <a:t> and A. </a:t>
            </a:r>
            <a:r>
              <a:rPr lang="en-US" sz="1600" dirty="0" err="1">
                <a:solidFill>
                  <a:srgbClr val="222222"/>
                </a:solidFill>
              </a:rPr>
              <a:t>Rattani</a:t>
            </a:r>
            <a:r>
              <a:rPr lang="en-US" sz="1600" dirty="0">
                <a:solidFill>
                  <a:srgbClr val="222222"/>
                </a:solidFill>
              </a:rPr>
              <a:t>, "Contextual Cross-Modal Attention for Audio-Visual Deepfake Detection," IEEE IJCB, 2024.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222222"/>
                </a:solidFill>
              </a:rPr>
              <a:t>[5]  A. </a:t>
            </a:r>
            <a:r>
              <a:rPr lang="en-US" sz="1600" dirty="0" err="1">
                <a:solidFill>
                  <a:srgbClr val="222222"/>
                </a:solidFill>
              </a:rPr>
              <a:t>Haliassos</a:t>
            </a:r>
            <a:r>
              <a:rPr lang="en-US" sz="1600" dirty="0">
                <a:solidFill>
                  <a:srgbClr val="222222"/>
                </a:solidFill>
              </a:rPr>
              <a:t> et al., "Lips Don't Lie: A </a:t>
            </a:r>
            <a:r>
              <a:rPr lang="en-US" sz="1600" dirty="0" err="1">
                <a:solidFill>
                  <a:srgbClr val="222222"/>
                </a:solidFill>
              </a:rPr>
              <a:t>Generalisable</a:t>
            </a:r>
            <a:r>
              <a:rPr lang="en-US" sz="1600" dirty="0">
                <a:solidFill>
                  <a:srgbClr val="222222"/>
                </a:solidFill>
              </a:rPr>
              <a:t> and Robust Approach to Face Forgery Detection," CVPR, 2021.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222222"/>
                </a:solidFill>
              </a:rPr>
              <a:t>[6]  E. Sabir et al., "Recurrent Convolutional Strategies for Face Manipulation Detection in Videos," arXiv:1905.00582, 2019.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222222"/>
                </a:solidFill>
              </a:rPr>
              <a:t>[7]  A. Hashmi et al., "</a:t>
            </a:r>
            <a:r>
              <a:rPr lang="en-US" sz="1600" dirty="0" err="1">
                <a:solidFill>
                  <a:srgbClr val="222222"/>
                </a:solidFill>
              </a:rPr>
              <a:t>AVTENet</a:t>
            </a:r>
            <a:r>
              <a:rPr lang="en-US" sz="1600" dirty="0">
                <a:solidFill>
                  <a:srgbClr val="222222"/>
                </a:solidFill>
              </a:rPr>
              <a:t>: A Human-Cognition-Inspired Audio-Visual Transformer-Based Ensemble Network for Video Deepfake Detection," IEEE TCDS, vol. 17, no. 6, 2025.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222222"/>
                </a:solidFill>
              </a:rPr>
              <a:t>[8]  N. Khan et al., "CAMME: Adaptive Deepfake Image Detection with Multi-Modal Cross-Attention," arXiv:2505.18035, 2025.</a:t>
            </a:r>
          </a:p>
        </p:txBody>
      </p:sp>
      <p:sp>
        <p:nvSpPr>
          <p:cNvPr id="9" name="Rectangle 9"/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0"/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4" name="Date Placeholder 9"/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9BC53-B53D-5CFE-4B7D-59B70E8C0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23C5BA-F064-B9DB-B6C2-A516C5BDCF8B}"/>
              </a:ext>
            </a:extLst>
          </p:cNvPr>
          <p:cNvSpPr txBox="1"/>
          <p:nvPr/>
        </p:nvSpPr>
        <p:spPr>
          <a:xfrm>
            <a:off x="616267" y="2877820"/>
            <a:ext cx="7843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lang="en-US" dirty="0"/>
              <a:t>Thank You!!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4629E-A991-1CA0-19D8-C0DC0F686D2F}"/>
              </a:ext>
            </a:extLst>
          </p:cNvPr>
          <p:cNvSpPr txBox="1"/>
          <p:nvPr/>
        </p:nvSpPr>
        <p:spPr>
          <a:xfrm>
            <a:off x="914400" y="3657600"/>
            <a:ext cx="35242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60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8D4AC4-2D6E-162D-3872-A6872230C8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235" y="104775"/>
            <a:ext cx="1113790" cy="1014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C312ED-55AB-0C75-C058-1BF00C5F13F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68540" y="198120"/>
            <a:ext cx="1619250" cy="762000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68F574E4-DDAB-02D0-7016-8BF8C8DE518D}"/>
              </a:ext>
            </a:extLst>
          </p:cNvPr>
          <p:cNvSpPr txBox="1"/>
          <p:nvPr/>
        </p:nvSpPr>
        <p:spPr>
          <a:xfrm>
            <a:off x="616267" y="1245902"/>
            <a:ext cx="7911465" cy="1136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300"/>
              </a:spcBef>
            </a:pPr>
            <a:endParaRPr lang="en-US" sz="1600" dirty="0">
              <a:solidFill>
                <a:srgbClr val="222222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19F13872-90F5-19FD-107C-FEF538E99EC3}"/>
              </a:ext>
            </a:extLst>
          </p:cNvPr>
          <p:cNvSpPr/>
          <p:nvPr/>
        </p:nvSpPr>
        <p:spPr>
          <a:xfrm>
            <a:off x="0" y="6273361"/>
            <a:ext cx="914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D3EEC9C8-C4B4-0C18-3166-2B3E0BFCAD22}"/>
              </a:ext>
            </a:extLst>
          </p:cNvPr>
          <p:cNvSpPr txBox="1"/>
          <p:nvPr/>
        </p:nvSpPr>
        <p:spPr>
          <a:xfrm>
            <a:off x="2020389" y="6250031"/>
            <a:ext cx="7124247" cy="583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ICSCCC’26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B R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Ambedkar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National Institute of Technology, Jalandhar, Punjab, India</a:t>
            </a:r>
          </a:p>
        </p:txBody>
      </p:sp>
      <p:sp>
        <p:nvSpPr>
          <p:cNvPr id="14" name="Date Placeholder 9">
            <a:extLst>
              <a:ext uri="{FF2B5EF4-FFF2-40B4-BE49-F238E27FC236}">
                <a16:creationId xmlns:a16="http://schemas.microsoft.com/office/drawing/2014/main" id="{65A02874-D4CA-59D4-4366-50A1744B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33" y="6283196"/>
            <a:ext cx="2133600" cy="563501"/>
          </a:xfrm>
        </p:spPr>
        <p:txBody>
          <a:bodyPr/>
          <a:lstStyle/>
          <a:p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31/05/2026</a:t>
            </a:r>
          </a:p>
        </p:txBody>
      </p:sp>
    </p:spTree>
    <p:extLst>
      <p:ext uri="{BB962C8B-B14F-4D97-AF65-F5344CB8AC3E}">
        <p14:creationId xmlns:p14="http://schemas.microsoft.com/office/powerpoint/2010/main" val="26612426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1747</Words>
  <Application>Microsoft Macintosh PowerPoint</Application>
  <PresentationFormat>On-screen Show (4:3)</PresentationFormat>
  <Paragraphs>222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Custom Design</vt:lpstr>
      <vt:lpstr>Default Design</vt:lpstr>
      <vt:lpstr>             Fourth International Conference  on             (with IEEE Delhi Section as Technical Sponsor) Secure Cyber Computing and Communications         “Future-ready Cyber Security: Trust, Intelligence, and Resilience in a Hyperconnected World” [IEEE Conference Record No. #69031] MAY 29-31 2026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Garg, Paras</cp:lastModifiedBy>
  <cp:revision>44</cp:revision>
  <dcterms:created xsi:type="dcterms:W3CDTF">2013-01-27T09:14:00Z</dcterms:created>
  <dcterms:modified xsi:type="dcterms:W3CDTF">2026-05-31T03:38:38Z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DEED2936B8544C20ACCFA1EC6033C127_13</vt:lpwstr>
  </property>
  <property fmtid="{D5CDD505-2E9C-101B-9397-08002B2CF9AE}" pid="3" name="KSOProductBuildVer">
    <vt:lpwstr>1033-12.2.0.21179</vt:lpwstr>
  </property>
</Properties>
</file>